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80" y="-2651760"/>
            <a:ext cx="6583680" cy="658368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011680" y="2926079"/>
            <a:ext cx="6583680" cy="658368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77675" y="3765871"/>
            <a:ext cx="23774" cy="23774"/>
          </a:xfrm>
          <a:prstGeom prst="ellipse">
            <a:avLst/>
          </a:prstGeom>
          <a:solidFill>
            <a:srgbClr val="CFE8FE">
              <a:alpha val="117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90607" y="1398404"/>
            <a:ext cx="31089" cy="31089"/>
          </a:xfrm>
          <a:prstGeom prst="ellipse">
            <a:avLst/>
          </a:prstGeom>
          <a:solidFill>
            <a:srgbClr val="CFE8FE">
              <a:alpha val="121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68850" y="1374540"/>
            <a:ext cx="23774" cy="23774"/>
          </a:xfrm>
          <a:prstGeom prst="ellipse">
            <a:avLst/>
          </a:prstGeom>
          <a:solidFill>
            <a:srgbClr val="CFE8FE">
              <a:alpha val="955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44116" y="5365252"/>
            <a:ext cx="31089" cy="31089"/>
          </a:xfrm>
          <a:prstGeom prst="ellipse">
            <a:avLst/>
          </a:prstGeom>
          <a:solidFill>
            <a:srgbClr val="CFE8FE">
              <a:alpha val="1451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52059" y="2718620"/>
            <a:ext cx="23774" cy="23774"/>
          </a:xfrm>
          <a:prstGeom prst="ellipse">
            <a:avLst/>
          </a:prstGeom>
          <a:solidFill>
            <a:srgbClr val="CFE8FE">
              <a:alpha val="148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87622" y="1190968"/>
            <a:ext cx="16459" cy="16459"/>
          </a:xfrm>
          <a:prstGeom prst="ellipse">
            <a:avLst/>
          </a:prstGeom>
          <a:solidFill>
            <a:srgbClr val="CFE8FE">
              <a:alpha val="1747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2182" y="411086"/>
            <a:ext cx="16459" cy="16459"/>
          </a:xfrm>
          <a:prstGeom prst="ellipse">
            <a:avLst/>
          </a:prstGeom>
          <a:solidFill>
            <a:srgbClr val="CFE8FE">
              <a:alpha val="139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90109" y="2271418"/>
            <a:ext cx="31089" cy="31089"/>
          </a:xfrm>
          <a:prstGeom prst="ellipse">
            <a:avLst/>
          </a:prstGeom>
          <a:solidFill>
            <a:srgbClr val="CFE8FE">
              <a:alpha val="176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58874" y="4281259"/>
            <a:ext cx="23774" cy="23774"/>
          </a:xfrm>
          <a:prstGeom prst="ellipse">
            <a:avLst/>
          </a:prstGeom>
          <a:solidFill>
            <a:srgbClr val="CFE8FE">
              <a:alpha val="506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77615" y="4374134"/>
            <a:ext cx="23774" cy="23774"/>
          </a:xfrm>
          <a:prstGeom prst="ellipse">
            <a:avLst/>
          </a:prstGeom>
          <a:solidFill>
            <a:srgbClr val="CFE8FE">
              <a:alpha val="199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36773" y="5560931"/>
            <a:ext cx="31089" cy="31089"/>
          </a:xfrm>
          <a:prstGeom prst="ellipse">
            <a:avLst/>
          </a:prstGeom>
          <a:solidFill>
            <a:srgbClr val="CFE8FE">
              <a:alpha val="880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54638" y="3465752"/>
            <a:ext cx="16459" cy="16459"/>
          </a:xfrm>
          <a:prstGeom prst="ellipse">
            <a:avLst/>
          </a:prstGeom>
          <a:solidFill>
            <a:srgbClr val="CFE8FE">
              <a:alpha val="605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51758" y="2745759"/>
            <a:ext cx="23774" cy="23774"/>
          </a:xfrm>
          <a:prstGeom prst="ellipse">
            <a:avLst/>
          </a:prstGeom>
          <a:solidFill>
            <a:srgbClr val="CFE8FE">
              <a:alpha val="1079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96114" y="5606340"/>
            <a:ext cx="16459" cy="16459"/>
          </a:xfrm>
          <a:prstGeom prst="ellipse">
            <a:avLst/>
          </a:prstGeom>
          <a:solidFill>
            <a:srgbClr val="CFE8FE">
              <a:alpha val="82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33277" y="517786"/>
            <a:ext cx="23774" cy="23774"/>
          </a:xfrm>
          <a:prstGeom prst="ellipse">
            <a:avLst/>
          </a:prstGeom>
          <a:solidFill>
            <a:srgbClr val="CFE8FE">
              <a:alpha val="19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34462" y="650383"/>
            <a:ext cx="31089" cy="31089"/>
          </a:xfrm>
          <a:prstGeom prst="ellipse">
            <a:avLst/>
          </a:prstGeom>
          <a:solidFill>
            <a:srgbClr val="CFE8FE">
              <a:alpha val="79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82232" y="2339263"/>
            <a:ext cx="23774" cy="23774"/>
          </a:xfrm>
          <a:prstGeom prst="ellipse">
            <a:avLst/>
          </a:prstGeom>
          <a:solidFill>
            <a:srgbClr val="CFE8FE">
              <a:alpha val="99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66736" y="5034945"/>
            <a:ext cx="16459" cy="16459"/>
          </a:xfrm>
          <a:prstGeom prst="ellipse">
            <a:avLst/>
          </a:prstGeom>
          <a:solidFill>
            <a:srgbClr val="CFE8FE">
              <a:alpha val="701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58021" y="253000"/>
            <a:ext cx="23774" cy="23774"/>
          </a:xfrm>
          <a:prstGeom prst="ellipse">
            <a:avLst/>
          </a:prstGeom>
          <a:solidFill>
            <a:srgbClr val="CFE8FE">
              <a:alpha val="1695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62481" y="3762816"/>
            <a:ext cx="23774" cy="23774"/>
          </a:xfrm>
          <a:prstGeom prst="ellipse">
            <a:avLst/>
          </a:prstGeom>
          <a:solidFill>
            <a:srgbClr val="CFE8FE">
              <a:alpha val="126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714928" y="5108436"/>
            <a:ext cx="23774" cy="23774"/>
          </a:xfrm>
          <a:prstGeom prst="ellipse">
            <a:avLst/>
          </a:prstGeom>
          <a:solidFill>
            <a:srgbClr val="CFE8FE">
              <a:alpha val="1465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46526" y="2876052"/>
            <a:ext cx="16459" cy="16459"/>
          </a:xfrm>
          <a:prstGeom prst="ellipse">
            <a:avLst/>
          </a:prstGeom>
          <a:solidFill>
            <a:srgbClr val="CFE8FE">
              <a:alpha val="500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99321" y="6422745"/>
            <a:ext cx="31089" cy="31089"/>
          </a:xfrm>
          <a:prstGeom prst="ellipse">
            <a:avLst/>
          </a:prstGeom>
          <a:solidFill>
            <a:srgbClr val="CFE8FE">
              <a:alpha val="95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39624" y="1531593"/>
            <a:ext cx="23774" cy="23774"/>
          </a:xfrm>
          <a:prstGeom prst="ellipse">
            <a:avLst/>
          </a:prstGeom>
          <a:solidFill>
            <a:srgbClr val="CFE8FE">
              <a:alpha val="199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229097" y="3875884"/>
            <a:ext cx="16459" cy="16459"/>
          </a:xfrm>
          <a:prstGeom prst="ellipse">
            <a:avLst/>
          </a:prstGeom>
          <a:solidFill>
            <a:srgbClr val="CFE8FE">
              <a:alpha val="1983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678748" y="1836062"/>
            <a:ext cx="31089" cy="31089"/>
          </a:xfrm>
          <a:prstGeom prst="ellipse">
            <a:avLst/>
          </a:prstGeom>
          <a:solidFill>
            <a:srgbClr val="CFE8FE">
              <a:alpha val="99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651159" y="652689"/>
            <a:ext cx="16459" cy="16459"/>
          </a:xfrm>
          <a:prstGeom prst="ellipse">
            <a:avLst/>
          </a:prstGeom>
          <a:solidFill>
            <a:srgbClr val="CFE8FE">
              <a:alpha val="813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3702" y="282150"/>
            <a:ext cx="23774" cy="23774"/>
          </a:xfrm>
          <a:prstGeom prst="ellipse">
            <a:avLst/>
          </a:prstGeom>
          <a:solidFill>
            <a:srgbClr val="CFE8FE">
              <a:alpha val="1057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7372" y="6322109"/>
            <a:ext cx="23774" cy="23774"/>
          </a:xfrm>
          <a:prstGeom prst="ellipse">
            <a:avLst/>
          </a:prstGeom>
          <a:solidFill>
            <a:srgbClr val="CFE8FE">
              <a:alpha val="1748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71600" y="2654209"/>
            <a:ext cx="31089" cy="31089"/>
          </a:xfrm>
          <a:prstGeom prst="ellipse">
            <a:avLst/>
          </a:prstGeom>
          <a:solidFill>
            <a:srgbClr val="CFE8FE">
              <a:alpha val="731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640000">
            <a:off x="-1828800" y="91440"/>
            <a:ext cx="15544800" cy="128016"/>
          </a:xfrm>
          <a:prstGeom prst="rect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0160000">
            <a:off x="5943600" y="-1371600"/>
            <a:ext cx="457200" cy="10972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0" y="1234440"/>
            <a:ext cx="2377440" cy="3794760"/>
          </a:xfrm>
          <a:prstGeom prst="roundRect">
            <a:avLst>
              <a:gd name="adj" fmla="val 9000"/>
            </a:avLst>
          </a:prstGeom>
          <a:solidFill>
            <a:srgbClr val="0B1120"/>
          </a:solidFill>
          <a:ln w="19050">
            <a:solidFill>
              <a:srgbClr val="3B4F78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814816" y="1453896"/>
            <a:ext cx="2121408" cy="2971800"/>
          </a:xfrm>
          <a:prstGeom prst="rect">
            <a:avLst/>
          </a:prstGeom>
          <a:gradFill>
            <a:gsLst>
              <a:gs pos="0">
                <a:srgbClr val="4C1D95"/>
              </a:gs>
              <a:gs pos="55000">
                <a:srgbClr val="164E63"/>
              </a:gs>
              <a:gs pos="100000">
                <a:srgbClr val="0E7490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28048" y="1600200"/>
            <a:ext cx="694944" cy="100584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06840" y="2011680"/>
            <a:ext cx="1737360" cy="292608"/>
          </a:xfrm>
          <a:prstGeom prst="rect">
            <a:avLst/>
          </a:prstGeom>
          <a:gradFill>
            <a:gsLst>
              <a:gs pos="0">
                <a:srgbClr val="22D3EE">
                  <a:alpha val="70000"/>
                </a:srgbClr>
              </a:gs>
              <a:gs pos="100000">
                <a:srgbClr val="22D3EE">
                  <a:alpha val="25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06840" y="2468880"/>
            <a:ext cx="1737360" cy="91440"/>
          </a:xfrm>
          <a:prstGeom prst="rect">
            <a:avLst/>
          </a:prstGeom>
          <a:solidFill>
            <a:srgbClr val="A7F3D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06840" y="2697480"/>
            <a:ext cx="1737360" cy="91440"/>
          </a:xfrm>
          <a:prstGeom prst="rect">
            <a:avLst/>
          </a:prstGeom>
          <a:solidFill>
            <a:srgbClr val="E9F1FB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06840" y="2926080"/>
            <a:ext cx="1097280" cy="91440"/>
          </a:xfrm>
          <a:prstGeom prst="rect">
            <a:avLst/>
          </a:prstGeom>
          <a:solidFill>
            <a:srgbClr val="FBBF24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46920" y="4297680"/>
            <a:ext cx="45720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83879" y="731520"/>
            <a:ext cx="3566160" cy="3566160"/>
          </a:xfrm>
          <a:prstGeom prst="ellipse">
            <a:avLst/>
          </a:prstGeom>
          <a:noFill/>
          <a:ln w="1397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58200" y="1005840"/>
            <a:ext cx="3017520" cy="3017520"/>
          </a:xfrm>
          <a:prstGeom prst="ellipse">
            <a:avLst/>
          </a:prstGeom>
          <a:noFill/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86868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  B.TECH CSE (DATA SCIENCE)  •  5TH SEMESTER  • 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1234440"/>
            <a:ext cx="768096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1">
                <a:gradFill rotWithShape="1">
                  <a:gsLst>
                    <a:gs pos="0">
                      <a:srgbClr val="FFFFFF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SMARTPRICE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240280"/>
            <a:ext cx="7680960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 b="1">
                <a:gradFill rotWithShape="1">
                  <a:gsLst>
                    <a:gs pos="0">
                      <a:srgbClr val="22D3EE"/>
                    </a:gs>
                    <a:gs pos="100000">
                      <a:srgbClr val="8B5CF6"/>
                    </a:gs>
                  </a:gsLst>
                  <a:lin scaled="0" ang="16200000"/>
                </a:gradFill>
                <a:latin typeface="Segoe UI"/>
              </a:rPr>
              <a:t>.AI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333756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0">
                <a:solidFill>
                  <a:srgbClr val="E9F1FB"/>
                </a:solidFill>
                <a:latin typeface="Segoe UI"/>
              </a:rPr>
              <a:t>AI-Powered Price Comparison &amp; Smart Buying Engine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8404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E9DB8"/>
                </a:solidFill>
                <a:latin typeface="Segoe UI"/>
              </a:rPr>
              <a:t>Cheapest store  •  AI forecast  •  Buy Now or Wait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" y="4434840"/>
            <a:ext cx="283464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709160"/>
            <a:ext cx="6766560" cy="11430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8B5CF6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3000" y="4864608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8B5CF6"/>
                </a:solidFill>
                <a:latin typeface="Segoe UI"/>
              </a:rPr>
              <a:t>PROJECT  MADE  BY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" y="513892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VEER SINGH</a:t>
            </a:r>
            <a:r>
              <a:rPr sz="1300" b="0">
                <a:solidFill>
                  <a:srgbClr val="8E9DB8"/>
                </a:solidFill>
                <a:latin typeface="Segoe UI"/>
              </a:rPr>
              <a:t>     •     Roll No. 2449476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900">
        <p14:cube dir="r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920240" y="-1371600"/>
            <a:ext cx="4754880" cy="475488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017520"/>
            <a:ext cx="5486400" cy="548640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84870" y="1429464"/>
            <a:ext cx="31089" cy="31089"/>
          </a:xfrm>
          <a:prstGeom prst="ellipse">
            <a:avLst/>
          </a:prstGeom>
          <a:solidFill>
            <a:srgbClr val="CFE8FE">
              <a:alpha val="188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50420" y="4429622"/>
            <a:ext cx="16459" cy="16459"/>
          </a:xfrm>
          <a:prstGeom prst="ellipse">
            <a:avLst/>
          </a:prstGeom>
          <a:solidFill>
            <a:srgbClr val="CFE8FE">
              <a:alpha val="1403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21981" y="3290235"/>
            <a:ext cx="16459" cy="16459"/>
          </a:xfrm>
          <a:prstGeom prst="ellipse">
            <a:avLst/>
          </a:prstGeom>
          <a:solidFill>
            <a:srgbClr val="CFE8FE">
              <a:alpha val="99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09161" y="1816632"/>
            <a:ext cx="16459" cy="16459"/>
          </a:xfrm>
          <a:prstGeom prst="ellipse">
            <a:avLst/>
          </a:prstGeom>
          <a:solidFill>
            <a:srgbClr val="CFE8FE">
              <a:alpha val="63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93941" y="2528869"/>
            <a:ext cx="23774" cy="23774"/>
          </a:xfrm>
          <a:prstGeom prst="ellipse">
            <a:avLst/>
          </a:prstGeom>
          <a:solidFill>
            <a:srgbClr val="CFE8FE">
              <a:alpha val="167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78109" y="5247160"/>
            <a:ext cx="23774" cy="23774"/>
          </a:xfrm>
          <a:prstGeom prst="ellipse">
            <a:avLst/>
          </a:prstGeom>
          <a:solidFill>
            <a:srgbClr val="CFE8FE">
              <a:alpha val="81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7540" y="2130578"/>
            <a:ext cx="16459" cy="16459"/>
          </a:xfrm>
          <a:prstGeom prst="ellipse">
            <a:avLst/>
          </a:prstGeom>
          <a:solidFill>
            <a:srgbClr val="CFE8FE">
              <a:alpha val="14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97072" y="2285744"/>
            <a:ext cx="23774" cy="23774"/>
          </a:xfrm>
          <a:prstGeom prst="ellipse">
            <a:avLst/>
          </a:prstGeom>
          <a:solidFill>
            <a:srgbClr val="CFE8FE">
              <a:alpha val="1091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2074" y="2890207"/>
            <a:ext cx="23774" cy="23774"/>
          </a:xfrm>
          <a:prstGeom prst="ellipse">
            <a:avLst/>
          </a:prstGeom>
          <a:solidFill>
            <a:srgbClr val="CFE8FE">
              <a:alpha val="161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80383" y="5763281"/>
            <a:ext cx="16459" cy="16459"/>
          </a:xfrm>
          <a:prstGeom prst="ellipse">
            <a:avLst/>
          </a:prstGeom>
          <a:solidFill>
            <a:srgbClr val="CFE8FE">
              <a:alpha val="130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26888" y="322840"/>
            <a:ext cx="31089" cy="31089"/>
          </a:xfrm>
          <a:prstGeom prst="ellipse">
            <a:avLst/>
          </a:prstGeom>
          <a:solidFill>
            <a:srgbClr val="CFE8FE">
              <a:alpha val="103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50176" y="5427570"/>
            <a:ext cx="16459" cy="16459"/>
          </a:xfrm>
          <a:prstGeom prst="ellipse">
            <a:avLst/>
          </a:prstGeom>
          <a:solidFill>
            <a:srgbClr val="CFE8FE">
              <a:alpha val="114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33682" y="5070576"/>
            <a:ext cx="23774" cy="23774"/>
          </a:xfrm>
          <a:prstGeom prst="ellipse">
            <a:avLst/>
          </a:prstGeom>
          <a:solidFill>
            <a:srgbClr val="CFE8FE">
              <a:alpha val="152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06859" y="2504990"/>
            <a:ext cx="31089" cy="31089"/>
          </a:xfrm>
          <a:prstGeom prst="ellipse">
            <a:avLst/>
          </a:prstGeom>
          <a:solidFill>
            <a:srgbClr val="CFE8FE">
              <a:alpha val="135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29666" y="5584227"/>
            <a:ext cx="31089" cy="31089"/>
          </a:xfrm>
          <a:prstGeom prst="ellipse">
            <a:avLst/>
          </a:prstGeom>
          <a:solidFill>
            <a:srgbClr val="CFE8FE">
              <a:alpha val="966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65527" y="4606346"/>
            <a:ext cx="31089" cy="31089"/>
          </a:xfrm>
          <a:prstGeom prst="ellipse">
            <a:avLst/>
          </a:prstGeom>
          <a:solidFill>
            <a:srgbClr val="CFE8FE">
              <a:alpha val="1809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45075" y="605003"/>
            <a:ext cx="31089" cy="31089"/>
          </a:xfrm>
          <a:prstGeom prst="ellipse">
            <a:avLst/>
          </a:prstGeom>
          <a:solidFill>
            <a:srgbClr val="CFE8FE">
              <a:alpha val="1018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56318" y="5788105"/>
            <a:ext cx="16459" cy="16459"/>
          </a:xfrm>
          <a:prstGeom prst="ellipse">
            <a:avLst/>
          </a:prstGeom>
          <a:solidFill>
            <a:srgbClr val="CFE8FE">
              <a:alpha val="151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21009" y="4058194"/>
            <a:ext cx="23774" cy="23774"/>
          </a:xfrm>
          <a:prstGeom prst="ellipse">
            <a:avLst/>
          </a:prstGeom>
          <a:solidFill>
            <a:srgbClr val="CFE8FE">
              <a:alpha val="1688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25181" y="1327550"/>
            <a:ext cx="16459" cy="16459"/>
          </a:xfrm>
          <a:prstGeom prst="ellipse">
            <a:avLst/>
          </a:prstGeom>
          <a:solidFill>
            <a:srgbClr val="CFE8FE">
              <a:alpha val="160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28393" y="3040685"/>
            <a:ext cx="16459" cy="16459"/>
          </a:xfrm>
          <a:prstGeom prst="ellipse">
            <a:avLst/>
          </a:prstGeom>
          <a:solidFill>
            <a:srgbClr val="CFE8FE">
              <a:alpha val="621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38361" y="2179522"/>
            <a:ext cx="23774" cy="23774"/>
          </a:xfrm>
          <a:prstGeom prst="ellipse">
            <a:avLst/>
          </a:prstGeom>
          <a:solidFill>
            <a:srgbClr val="CFE8FE">
              <a:alpha val="601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3130" y="4594346"/>
            <a:ext cx="23774" cy="23774"/>
          </a:xfrm>
          <a:prstGeom prst="ellipse">
            <a:avLst/>
          </a:prstGeom>
          <a:solidFill>
            <a:srgbClr val="CFE8FE">
              <a:alpha val="119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36139" y="4529435"/>
            <a:ext cx="23774" cy="23774"/>
          </a:xfrm>
          <a:prstGeom prst="ellipse">
            <a:avLst/>
          </a:prstGeom>
          <a:solidFill>
            <a:srgbClr val="CFE8FE">
              <a:alpha val="63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152864" y="1783196"/>
            <a:ext cx="16459" cy="16459"/>
          </a:xfrm>
          <a:prstGeom prst="ellipse">
            <a:avLst/>
          </a:prstGeom>
          <a:solidFill>
            <a:srgbClr val="CFE8FE">
              <a:alpha val="113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0508" y="5305180"/>
            <a:ext cx="23774" cy="23774"/>
          </a:xfrm>
          <a:prstGeom prst="ellipse">
            <a:avLst/>
          </a:prstGeom>
          <a:solidFill>
            <a:srgbClr val="CFE8FE">
              <a:alpha val="866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67054" y="6437861"/>
            <a:ext cx="16459" cy="16459"/>
          </a:xfrm>
          <a:prstGeom prst="ellipse">
            <a:avLst/>
          </a:prstGeom>
          <a:solidFill>
            <a:srgbClr val="CFE8FE">
              <a:alpha val="518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92249" y="5666559"/>
            <a:ext cx="23774" cy="23774"/>
          </a:xfrm>
          <a:prstGeom prst="ellipse">
            <a:avLst/>
          </a:prstGeom>
          <a:solidFill>
            <a:srgbClr val="CFE8FE">
              <a:alpha val="1483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3231" y="2336594"/>
            <a:ext cx="23774" cy="23774"/>
          </a:xfrm>
          <a:prstGeom prst="ellipse">
            <a:avLst/>
          </a:prstGeom>
          <a:solidFill>
            <a:srgbClr val="CFE8FE">
              <a:alpha val="1206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4269" y="3979333"/>
            <a:ext cx="23774" cy="23774"/>
          </a:xfrm>
          <a:prstGeom prst="ellipse">
            <a:avLst/>
          </a:prstGeom>
          <a:solidFill>
            <a:srgbClr val="CFE8FE">
              <a:alpha val="1001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AGENDA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554480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9536" y="1700784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39" y="1691639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Introduction &amp; Problem Statement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2487168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9536" y="2633472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39" y="2624327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Objectives of the Project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3419856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9536" y="3566160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91639" y="3557016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Project Overview &amp; Key Features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4352544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59536" y="4498848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91639" y="4489704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Technology Stack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285232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59536" y="5431536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39" y="5422392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The AI Engine — Linear Regression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00800" y="1554480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620256" y="1700784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52360" y="1691639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Dataset &amp; Pricing Engine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0" y="2487168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20256" y="2633472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624327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System Architecture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0" y="3419856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620256" y="3566160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557016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Results &amp; Insights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0" y="4352544"/>
            <a:ext cx="53949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620256" y="4498848"/>
            <a:ext cx="621792" cy="457200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2D3EE"/>
                </a:solidFill>
                <a:latin typeface="Segoe UI"/>
              </a:rPr>
              <a:t>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52360" y="4489704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Future Scope &amp; Conclusion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flip dir="l" pres="obj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-731520"/>
            <a:ext cx="4023360" cy="402336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926079"/>
            <a:ext cx="6217920" cy="621792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17123" y="4125550"/>
            <a:ext cx="16459" cy="16459"/>
          </a:xfrm>
          <a:prstGeom prst="ellipse">
            <a:avLst/>
          </a:prstGeom>
          <a:solidFill>
            <a:srgbClr val="CFE8FE">
              <a:alpha val="1331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18451" y="1350925"/>
            <a:ext cx="23774" cy="23774"/>
          </a:xfrm>
          <a:prstGeom prst="ellipse">
            <a:avLst/>
          </a:prstGeom>
          <a:solidFill>
            <a:srgbClr val="CFE8FE">
              <a:alpha val="142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10479" y="459537"/>
            <a:ext cx="31089" cy="31089"/>
          </a:xfrm>
          <a:prstGeom prst="ellipse">
            <a:avLst/>
          </a:prstGeom>
          <a:solidFill>
            <a:srgbClr val="CFE8FE">
              <a:alpha val="1314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18445" y="5847480"/>
            <a:ext cx="16459" cy="16459"/>
          </a:xfrm>
          <a:prstGeom prst="ellipse">
            <a:avLst/>
          </a:prstGeom>
          <a:solidFill>
            <a:srgbClr val="CFE8FE">
              <a:alpha val="1602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96812" y="1634835"/>
            <a:ext cx="16459" cy="16459"/>
          </a:xfrm>
          <a:prstGeom prst="ellipse">
            <a:avLst/>
          </a:prstGeom>
          <a:solidFill>
            <a:srgbClr val="CFE8FE">
              <a:alpha val="62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1622" y="1359103"/>
            <a:ext cx="31089" cy="31089"/>
          </a:xfrm>
          <a:prstGeom prst="ellipse">
            <a:avLst/>
          </a:prstGeom>
          <a:solidFill>
            <a:srgbClr val="CFE8FE">
              <a:alpha val="1162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47223" y="1604015"/>
            <a:ext cx="31089" cy="31089"/>
          </a:xfrm>
          <a:prstGeom prst="ellipse">
            <a:avLst/>
          </a:prstGeom>
          <a:solidFill>
            <a:srgbClr val="CFE8FE">
              <a:alpha val="128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27129" y="2820177"/>
            <a:ext cx="23774" cy="23774"/>
          </a:xfrm>
          <a:prstGeom prst="ellipse">
            <a:avLst/>
          </a:prstGeom>
          <a:solidFill>
            <a:srgbClr val="CFE8FE">
              <a:alpha val="150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67289" y="771774"/>
            <a:ext cx="23774" cy="23774"/>
          </a:xfrm>
          <a:prstGeom prst="ellipse">
            <a:avLst/>
          </a:prstGeom>
          <a:solidFill>
            <a:srgbClr val="CFE8FE">
              <a:alpha val="106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59205" y="2918630"/>
            <a:ext cx="31089" cy="31089"/>
          </a:xfrm>
          <a:prstGeom prst="ellipse">
            <a:avLst/>
          </a:prstGeom>
          <a:solidFill>
            <a:srgbClr val="CFE8FE">
              <a:alpha val="1146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46298" y="5992081"/>
            <a:ext cx="16459" cy="16459"/>
          </a:xfrm>
          <a:prstGeom prst="ellipse">
            <a:avLst/>
          </a:prstGeom>
          <a:solidFill>
            <a:srgbClr val="CFE8FE">
              <a:alpha val="1045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3370" y="1701451"/>
            <a:ext cx="23774" cy="23774"/>
          </a:xfrm>
          <a:prstGeom prst="ellipse">
            <a:avLst/>
          </a:prstGeom>
          <a:solidFill>
            <a:srgbClr val="CFE8FE">
              <a:alpha val="1149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14606" y="3002967"/>
            <a:ext cx="31089" cy="31089"/>
          </a:xfrm>
          <a:prstGeom prst="ellipse">
            <a:avLst/>
          </a:prstGeom>
          <a:solidFill>
            <a:srgbClr val="CFE8FE">
              <a:alpha val="165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9782" y="2205617"/>
            <a:ext cx="31089" cy="31089"/>
          </a:xfrm>
          <a:prstGeom prst="ellipse">
            <a:avLst/>
          </a:prstGeom>
          <a:solidFill>
            <a:srgbClr val="CFE8FE">
              <a:alpha val="120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73297" y="3044898"/>
            <a:ext cx="31089" cy="31089"/>
          </a:xfrm>
          <a:prstGeom prst="ellipse">
            <a:avLst/>
          </a:prstGeom>
          <a:solidFill>
            <a:srgbClr val="CFE8FE">
              <a:alpha val="198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68846" y="1510099"/>
            <a:ext cx="16459" cy="16459"/>
          </a:xfrm>
          <a:prstGeom prst="ellipse">
            <a:avLst/>
          </a:prstGeom>
          <a:solidFill>
            <a:srgbClr val="CFE8FE">
              <a:alpha val="161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08892" y="6039571"/>
            <a:ext cx="31089" cy="31089"/>
          </a:xfrm>
          <a:prstGeom prst="ellipse">
            <a:avLst/>
          </a:prstGeom>
          <a:solidFill>
            <a:srgbClr val="CFE8FE">
              <a:alpha val="74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80369" y="2548977"/>
            <a:ext cx="16459" cy="16459"/>
          </a:xfrm>
          <a:prstGeom prst="ellipse">
            <a:avLst/>
          </a:prstGeom>
          <a:solidFill>
            <a:srgbClr val="CFE8FE">
              <a:alpha val="109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58091" y="6225698"/>
            <a:ext cx="16459" cy="16459"/>
          </a:xfrm>
          <a:prstGeom prst="ellipse">
            <a:avLst/>
          </a:prstGeom>
          <a:solidFill>
            <a:srgbClr val="CFE8FE">
              <a:alpha val="96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96699" y="3531116"/>
            <a:ext cx="23774" cy="23774"/>
          </a:xfrm>
          <a:prstGeom prst="ellipse">
            <a:avLst/>
          </a:prstGeom>
          <a:solidFill>
            <a:srgbClr val="CFE8FE">
              <a:alpha val="158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44561" y="5863609"/>
            <a:ext cx="16459" cy="16459"/>
          </a:xfrm>
          <a:prstGeom prst="ellipse">
            <a:avLst/>
          </a:prstGeom>
          <a:solidFill>
            <a:srgbClr val="CFE8FE">
              <a:alpha val="8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24449" y="4424568"/>
            <a:ext cx="16459" cy="16459"/>
          </a:xfrm>
          <a:prstGeom prst="ellipse">
            <a:avLst/>
          </a:prstGeom>
          <a:solidFill>
            <a:srgbClr val="CFE8FE">
              <a:alpha val="127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89143" y="4023924"/>
            <a:ext cx="31089" cy="31089"/>
          </a:xfrm>
          <a:prstGeom prst="ellipse">
            <a:avLst/>
          </a:prstGeom>
          <a:solidFill>
            <a:srgbClr val="CFE8FE">
              <a:alpha val="844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6833" y="2673780"/>
            <a:ext cx="16459" cy="16459"/>
          </a:xfrm>
          <a:prstGeom prst="ellipse">
            <a:avLst/>
          </a:prstGeom>
          <a:solidFill>
            <a:srgbClr val="CFE8FE">
              <a:alpha val="67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67443" y="210590"/>
            <a:ext cx="23774" cy="23774"/>
          </a:xfrm>
          <a:prstGeom prst="ellipse">
            <a:avLst/>
          </a:prstGeom>
          <a:solidFill>
            <a:srgbClr val="CFE8FE">
              <a:alpha val="97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07147" y="2835215"/>
            <a:ext cx="16459" cy="16459"/>
          </a:xfrm>
          <a:prstGeom prst="ellipse">
            <a:avLst/>
          </a:prstGeom>
          <a:solidFill>
            <a:srgbClr val="CFE8FE">
              <a:alpha val="11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884" y="5517231"/>
            <a:ext cx="31089" cy="31089"/>
          </a:xfrm>
          <a:prstGeom prst="ellipse">
            <a:avLst/>
          </a:prstGeom>
          <a:solidFill>
            <a:srgbClr val="CFE8FE">
              <a:alpha val="802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28425" y="5346275"/>
            <a:ext cx="23774" cy="23774"/>
          </a:xfrm>
          <a:prstGeom prst="ellipse">
            <a:avLst/>
          </a:prstGeom>
          <a:solidFill>
            <a:srgbClr val="CFE8FE">
              <a:alpha val="135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06365" y="4920090"/>
            <a:ext cx="23774" cy="23774"/>
          </a:xfrm>
          <a:prstGeom prst="ellipse">
            <a:avLst/>
          </a:prstGeom>
          <a:solidFill>
            <a:srgbClr val="CFE8FE">
              <a:alpha val="63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173137" y="5240386"/>
            <a:ext cx="23774" cy="23774"/>
          </a:xfrm>
          <a:prstGeom prst="ellipse">
            <a:avLst/>
          </a:prstGeom>
          <a:solidFill>
            <a:srgbClr val="CFE8FE">
              <a:alpha val="1504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INTRODUCTION &amp; PROBLEM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554480"/>
            <a:ext cx="6858000" cy="4023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178308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The everyday shopping problem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286000"/>
            <a:ext cx="63093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  </a:t>
            </a:r>
            <a:r>
              <a:rPr sz="1500" b="0">
                <a:solidFill>
                  <a:srgbClr val="E9F1FB"/>
                </a:solidFill>
                <a:latin typeface="Segoe UI"/>
              </a:rPr>
              <a:t>The same smartphone is sold at many stores — brand store, Amazon, Flipkart.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  </a:t>
            </a:r>
            <a:r>
              <a:rPr sz="1500" b="0">
                <a:solidFill>
                  <a:srgbClr val="E9F1FB"/>
                </a:solidFill>
                <a:latin typeface="Segoe UI"/>
              </a:rPr>
              <a:t>Prices change every week with sales, bank offers and new launches.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  </a:t>
            </a:r>
            <a:r>
              <a:rPr sz="1500" b="0">
                <a:solidFill>
                  <a:srgbClr val="E9F1FB"/>
                </a:solidFill>
                <a:latin typeface="Segoe UI"/>
              </a:rPr>
              <a:t>Buyers cannot tell which store is cheapest today…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  </a:t>
            </a:r>
            <a:r>
              <a:rPr sz="1500" b="0">
                <a:solidFill>
                  <a:srgbClr val="E9F1FB"/>
                </a:solidFill>
                <a:latin typeface="Segoe UI"/>
              </a:rPr>
              <a:t>…or whether the price will drop further next week.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  </a:t>
            </a:r>
            <a:r>
              <a:rPr sz="1500" b="0">
                <a:solidFill>
                  <a:srgbClr val="E9F1FB"/>
                </a:solidFill>
                <a:latin typeface="Segoe UI"/>
              </a:rPr>
              <a:t>Result: people either overpay or buy too early.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26679" y="1554480"/>
            <a:ext cx="3794760" cy="4023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9050">
            <a:solidFill>
              <a:srgbClr val="22D3E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1000" y="1783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8B5CF6"/>
                </a:solidFill>
                <a:latin typeface="Segoe UI"/>
              </a:rPr>
              <a:t>THE QUESTION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2860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Segoe UI"/>
              </a:rPr>
              <a:t>“Where should I buy, and WHEN should I wait for the best price?”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8920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4D399"/>
                </a:solidFill>
                <a:latin typeface="Segoe UI"/>
              </a:rPr>
              <a:t>SmartPrice.AI answers it with data + AI.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gallery dir="r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79" y="-2286000"/>
            <a:ext cx="5120640" cy="512064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46720" y="3840479"/>
            <a:ext cx="4754880" cy="4754880"/>
          </a:xfrm>
          <a:prstGeom prst="ellipse">
            <a:avLst/>
          </a:prstGeom>
          <a:gradFill>
            <a:gsLst>
              <a:gs pos="0">
                <a:srgbClr val="F59E0B">
                  <a:alpha val="26000"/>
                </a:srgbClr>
              </a:gs>
              <a:gs pos="60000">
                <a:srgbClr val="F59E0B">
                  <a:alpha val="7000"/>
                </a:srgbClr>
              </a:gs>
              <a:gs pos="100000">
                <a:srgbClr val="F59E0B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1995" y="3103554"/>
            <a:ext cx="31089" cy="31089"/>
          </a:xfrm>
          <a:prstGeom prst="ellipse">
            <a:avLst/>
          </a:prstGeom>
          <a:solidFill>
            <a:srgbClr val="CFE8FE">
              <a:alpha val="154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60069" y="4593575"/>
            <a:ext cx="31089" cy="31089"/>
          </a:xfrm>
          <a:prstGeom prst="ellipse">
            <a:avLst/>
          </a:prstGeom>
          <a:solidFill>
            <a:srgbClr val="CFE8FE">
              <a:alpha val="1608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41346" y="3134722"/>
            <a:ext cx="23774" cy="23774"/>
          </a:xfrm>
          <a:prstGeom prst="ellipse">
            <a:avLst/>
          </a:prstGeom>
          <a:solidFill>
            <a:srgbClr val="CFE8FE">
              <a:alpha val="180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054" y="709243"/>
            <a:ext cx="16459" cy="16459"/>
          </a:xfrm>
          <a:prstGeom prst="ellipse">
            <a:avLst/>
          </a:prstGeom>
          <a:solidFill>
            <a:srgbClr val="CFE8FE">
              <a:alpha val="1374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70476" y="464893"/>
            <a:ext cx="16459" cy="16459"/>
          </a:xfrm>
          <a:prstGeom prst="ellipse">
            <a:avLst/>
          </a:prstGeom>
          <a:solidFill>
            <a:srgbClr val="CFE8FE">
              <a:alpha val="1537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89637" y="2062632"/>
            <a:ext cx="31089" cy="31089"/>
          </a:xfrm>
          <a:prstGeom prst="ellipse">
            <a:avLst/>
          </a:prstGeom>
          <a:solidFill>
            <a:srgbClr val="CFE8FE">
              <a:alpha val="111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64320" y="4810629"/>
            <a:ext cx="23774" cy="23774"/>
          </a:xfrm>
          <a:prstGeom prst="ellipse">
            <a:avLst/>
          </a:prstGeom>
          <a:solidFill>
            <a:srgbClr val="CFE8FE">
              <a:alpha val="839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75558" y="5120206"/>
            <a:ext cx="31089" cy="31089"/>
          </a:xfrm>
          <a:prstGeom prst="ellipse">
            <a:avLst/>
          </a:prstGeom>
          <a:solidFill>
            <a:srgbClr val="CFE8FE">
              <a:alpha val="87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3220" y="3897488"/>
            <a:ext cx="31089" cy="31089"/>
          </a:xfrm>
          <a:prstGeom prst="ellipse">
            <a:avLst/>
          </a:prstGeom>
          <a:solidFill>
            <a:srgbClr val="CFE8FE">
              <a:alpha val="1427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38949" y="1789213"/>
            <a:ext cx="23774" cy="23774"/>
          </a:xfrm>
          <a:prstGeom prst="ellipse">
            <a:avLst/>
          </a:prstGeom>
          <a:solidFill>
            <a:srgbClr val="CFE8FE">
              <a:alpha val="186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057" y="3564081"/>
            <a:ext cx="23774" cy="23774"/>
          </a:xfrm>
          <a:prstGeom prst="ellipse">
            <a:avLst/>
          </a:prstGeom>
          <a:solidFill>
            <a:srgbClr val="CFE8FE">
              <a:alpha val="1292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74038" y="2080647"/>
            <a:ext cx="23774" cy="23774"/>
          </a:xfrm>
          <a:prstGeom prst="ellipse">
            <a:avLst/>
          </a:prstGeom>
          <a:solidFill>
            <a:srgbClr val="CFE8FE">
              <a:alpha val="1749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18063" y="3465310"/>
            <a:ext cx="16459" cy="16459"/>
          </a:xfrm>
          <a:prstGeom prst="ellipse">
            <a:avLst/>
          </a:prstGeom>
          <a:solidFill>
            <a:srgbClr val="CFE8FE">
              <a:alpha val="1221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56797" y="5562618"/>
            <a:ext cx="31089" cy="31089"/>
          </a:xfrm>
          <a:prstGeom prst="ellipse">
            <a:avLst/>
          </a:prstGeom>
          <a:solidFill>
            <a:srgbClr val="CFE8FE">
              <a:alpha val="154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36905" y="3288245"/>
            <a:ext cx="16459" cy="16459"/>
          </a:xfrm>
          <a:prstGeom prst="ellipse">
            <a:avLst/>
          </a:prstGeom>
          <a:solidFill>
            <a:srgbClr val="CFE8FE">
              <a:alpha val="198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75929" y="5123078"/>
            <a:ext cx="31089" cy="31089"/>
          </a:xfrm>
          <a:prstGeom prst="ellipse">
            <a:avLst/>
          </a:prstGeom>
          <a:solidFill>
            <a:srgbClr val="CFE8FE">
              <a:alpha val="1074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7035" y="3238201"/>
            <a:ext cx="31089" cy="31089"/>
          </a:xfrm>
          <a:prstGeom prst="ellipse">
            <a:avLst/>
          </a:prstGeom>
          <a:solidFill>
            <a:srgbClr val="CFE8FE">
              <a:alpha val="109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68707" y="3026202"/>
            <a:ext cx="31089" cy="31089"/>
          </a:xfrm>
          <a:prstGeom prst="ellipse">
            <a:avLst/>
          </a:prstGeom>
          <a:solidFill>
            <a:srgbClr val="CFE8FE">
              <a:alpha val="183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49301" y="5167521"/>
            <a:ext cx="23774" cy="23774"/>
          </a:xfrm>
          <a:prstGeom prst="ellipse">
            <a:avLst/>
          </a:prstGeom>
          <a:solidFill>
            <a:srgbClr val="CFE8FE">
              <a:alpha val="147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6750" y="3661463"/>
            <a:ext cx="31089" cy="31089"/>
          </a:xfrm>
          <a:prstGeom prst="ellipse">
            <a:avLst/>
          </a:prstGeom>
          <a:solidFill>
            <a:srgbClr val="CFE8FE">
              <a:alpha val="85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44392" y="6163625"/>
            <a:ext cx="16459" cy="16459"/>
          </a:xfrm>
          <a:prstGeom prst="ellipse">
            <a:avLst/>
          </a:prstGeom>
          <a:solidFill>
            <a:srgbClr val="CFE8FE">
              <a:alpha val="136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47172" y="2615583"/>
            <a:ext cx="23774" cy="23774"/>
          </a:xfrm>
          <a:prstGeom prst="ellipse">
            <a:avLst/>
          </a:prstGeom>
          <a:solidFill>
            <a:srgbClr val="CFE8FE">
              <a:alpha val="1181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24608" y="1113509"/>
            <a:ext cx="16459" cy="16459"/>
          </a:xfrm>
          <a:prstGeom prst="ellipse">
            <a:avLst/>
          </a:prstGeom>
          <a:solidFill>
            <a:srgbClr val="CFE8FE">
              <a:alpha val="991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00302" y="5616993"/>
            <a:ext cx="31089" cy="31089"/>
          </a:xfrm>
          <a:prstGeom prst="ellipse">
            <a:avLst/>
          </a:prstGeom>
          <a:solidFill>
            <a:srgbClr val="CFE8FE">
              <a:alpha val="642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20210" y="2721572"/>
            <a:ext cx="16459" cy="16459"/>
          </a:xfrm>
          <a:prstGeom prst="ellipse">
            <a:avLst/>
          </a:prstGeom>
          <a:solidFill>
            <a:srgbClr val="CFE8FE">
              <a:alpha val="772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36638" y="5411391"/>
            <a:ext cx="16459" cy="16459"/>
          </a:xfrm>
          <a:prstGeom prst="ellipse">
            <a:avLst/>
          </a:prstGeom>
          <a:solidFill>
            <a:srgbClr val="CFE8FE">
              <a:alpha val="154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53082" y="4416221"/>
            <a:ext cx="31089" cy="31089"/>
          </a:xfrm>
          <a:prstGeom prst="ellipse">
            <a:avLst/>
          </a:prstGeom>
          <a:solidFill>
            <a:srgbClr val="CFE8FE">
              <a:alpha val="152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27423" y="2309822"/>
            <a:ext cx="31089" cy="31089"/>
          </a:xfrm>
          <a:prstGeom prst="ellipse">
            <a:avLst/>
          </a:prstGeom>
          <a:solidFill>
            <a:srgbClr val="CFE8FE">
              <a:alpha val="1622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1183" y="4162083"/>
            <a:ext cx="23774" cy="23774"/>
          </a:xfrm>
          <a:prstGeom prst="ellipse">
            <a:avLst/>
          </a:prstGeom>
          <a:solidFill>
            <a:srgbClr val="CFE8FE">
              <a:alpha val="144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89056" y="2927156"/>
            <a:ext cx="23774" cy="23774"/>
          </a:xfrm>
          <a:prstGeom prst="ellipse">
            <a:avLst/>
          </a:prstGeom>
          <a:solidFill>
            <a:srgbClr val="CFE8FE">
              <a:alpha val="165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OBJECTIVES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645920"/>
            <a:ext cx="544068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1645920"/>
            <a:ext cx="82296" cy="1737360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192024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◆  COMPARE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251460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E9F1FB"/>
                </a:solidFill>
                <a:latin typeface="Segoe UI"/>
              </a:rPr>
              <a:t>Search any mobile and instantly see the least price across major stores.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3703320"/>
            <a:ext cx="544068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3703320"/>
            <a:ext cx="82296" cy="1737360"/>
          </a:xfrm>
          <a:prstGeom prst="rect">
            <a:avLst/>
          </a:prstGeom>
          <a:solidFill>
            <a:srgbClr val="8B5CF6"/>
          </a:solidFill>
          <a:ln>
            <a:noFill/>
          </a:ln>
          <a:effectLst>
            <a:glow rad="60000">
              <a:srgbClr val="8B5CF6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397763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8B5CF6"/>
                </a:solidFill>
                <a:latin typeface="Segoe UI"/>
              </a:rPr>
              <a:t>◆  FORECAST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457200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E9F1FB"/>
                </a:solidFill>
                <a:latin typeface="Segoe UI"/>
              </a:rPr>
              <a:t>Predict 2-week price movement per store using from-scratch machine learning.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1645920"/>
            <a:ext cx="544068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46520" y="1645920"/>
            <a:ext cx="82296" cy="1737360"/>
          </a:xfrm>
          <a:prstGeom prst="rect">
            <a:avLst/>
          </a:prstGeom>
          <a:solidFill>
            <a:srgbClr val="34D399"/>
          </a:solidFill>
          <a:ln>
            <a:noFill/>
          </a:ln>
          <a:effectLst>
            <a:glow rad="60000">
              <a:srgbClr val="34D399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12280" y="192024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◆  RECOMMEND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2280" y="251460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E9F1FB"/>
                </a:solidFill>
                <a:latin typeface="Segoe UI"/>
              </a:rPr>
              <a:t>Give a clear verdict — BUY NOW or WAIT — with the estimated saving.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46520" y="3703320"/>
            <a:ext cx="544068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46520" y="3703320"/>
            <a:ext cx="82296" cy="1737360"/>
          </a:xfrm>
          <a:prstGeom prst="rect">
            <a:avLst/>
          </a:prstGeom>
          <a:solidFill>
            <a:srgbClr val="FBBF24"/>
          </a:solidFill>
          <a:ln>
            <a:noFill/>
          </a:ln>
          <a:effectLst>
            <a:glow rad="60000">
              <a:srgbClr val="FBBF24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12280" y="397763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FBBF24"/>
                </a:solidFill>
                <a:latin typeface="Segoe UI"/>
              </a:rPr>
              <a:t>◆  EDUCATE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457200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E9F1FB"/>
                </a:solidFill>
                <a:latin typeface="Segoe UI"/>
              </a:rPr>
              <a:t>Show the full 14-week price trend for transparent, data-backed decisions.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cube dir="u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08960" y="-3291840"/>
            <a:ext cx="6583680" cy="658368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3657600"/>
            <a:ext cx="5486400" cy="548640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18569" y="5763505"/>
            <a:ext cx="31089" cy="31089"/>
          </a:xfrm>
          <a:prstGeom prst="ellipse">
            <a:avLst/>
          </a:prstGeom>
          <a:solidFill>
            <a:srgbClr val="CFE8FE">
              <a:alpha val="1656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59611" y="226043"/>
            <a:ext cx="16459" cy="16459"/>
          </a:xfrm>
          <a:prstGeom prst="ellipse">
            <a:avLst/>
          </a:prstGeom>
          <a:solidFill>
            <a:srgbClr val="CFE8FE">
              <a:alpha val="171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8614" y="1249853"/>
            <a:ext cx="16459" cy="16459"/>
          </a:xfrm>
          <a:prstGeom prst="ellipse">
            <a:avLst/>
          </a:prstGeom>
          <a:solidFill>
            <a:srgbClr val="CFE8FE">
              <a:alpha val="677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53058" y="2293251"/>
            <a:ext cx="31089" cy="31089"/>
          </a:xfrm>
          <a:prstGeom prst="ellipse">
            <a:avLst/>
          </a:prstGeom>
          <a:solidFill>
            <a:srgbClr val="CFE8FE">
              <a:alpha val="591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59642" y="1827340"/>
            <a:ext cx="23774" cy="23774"/>
          </a:xfrm>
          <a:prstGeom prst="ellipse">
            <a:avLst/>
          </a:prstGeom>
          <a:solidFill>
            <a:srgbClr val="CFE8FE">
              <a:alpha val="192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90855" y="2097442"/>
            <a:ext cx="16459" cy="16459"/>
          </a:xfrm>
          <a:prstGeom prst="ellipse">
            <a:avLst/>
          </a:prstGeom>
          <a:solidFill>
            <a:srgbClr val="CFE8FE">
              <a:alpha val="1199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60253" y="1836490"/>
            <a:ext cx="16459" cy="16459"/>
          </a:xfrm>
          <a:prstGeom prst="ellipse">
            <a:avLst/>
          </a:prstGeom>
          <a:solidFill>
            <a:srgbClr val="CFE8FE">
              <a:alpha val="179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122" y="428195"/>
            <a:ext cx="16459" cy="16459"/>
          </a:xfrm>
          <a:prstGeom prst="ellipse">
            <a:avLst/>
          </a:prstGeom>
          <a:solidFill>
            <a:srgbClr val="CFE8FE">
              <a:alpha val="1742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35550" y="2837891"/>
            <a:ext cx="16459" cy="16459"/>
          </a:xfrm>
          <a:prstGeom prst="ellipse">
            <a:avLst/>
          </a:prstGeom>
          <a:solidFill>
            <a:srgbClr val="CFE8FE">
              <a:alpha val="1024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788386" y="1462804"/>
            <a:ext cx="16459" cy="16459"/>
          </a:xfrm>
          <a:prstGeom prst="ellipse">
            <a:avLst/>
          </a:prstGeom>
          <a:solidFill>
            <a:srgbClr val="CFE8FE">
              <a:alpha val="561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96421" y="5339026"/>
            <a:ext cx="31089" cy="31089"/>
          </a:xfrm>
          <a:prstGeom prst="ellipse">
            <a:avLst/>
          </a:prstGeom>
          <a:solidFill>
            <a:srgbClr val="CFE8FE">
              <a:alpha val="121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29385" y="1587568"/>
            <a:ext cx="16459" cy="16459"/>
          </a:xfrm>
          <a:prstGeom prst="ellipse">
            <a:avLst/>
          </a:prstGeom>
          <a:solidFill>
            <a:srgbClr val="CFE8FE">
              <a:alpha val="768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0517" y="438051"/>
            <a:ext cx="23774" cy="23774"/>
          </a:xfrm>
          <a:prstGeom prst="ellipse">
            <a:avLst/>
          </a:prstGeom>
          <a:solidFill>
            <a:srgbClr val="CFE8FE">
              <a:alpha val="54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92227" y="1540346"/>
            <a:ext cx="23774" cy="23774"/>
          </a:xfrm>
          <a:prstGeom prst="ellipse">
            <a:avLst/>
          </a:prstGeom>
          <a:solidFill>
            <a:srgbClr val="CFE8FE">
              <a:alpha val="62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85428" y="245577"/>
            <a:ext cx="31089" cy="31089"/>
          </a:xfrm>
          <a:prstGeom prst="ellipse">
            <a:avLst/>
          </a:prstGeom>
          <a:solidFill>
            <a:srgbClr val="CFE8FE">
              <a:alpha val="865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956" y="4157916"/>
            <a:ext cx="31089" cy="31089"/>
          </a:xfrm>
          <a:prstGeom prst="ellipse">
            <a:avLst/>
          </a:prstGeom>
          <a:solidFill>
            <a:srgbClr val="CFE8FE">
              <a:alpha val="1126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00227" y="3245112"/>
            <a:ext cx="16459" cy="16459"/>
          </a:xfrm>
          <a:prstGeom prst="ellipse">
            <a:avLst/>
          </a:prstGeom>
          <a:solidFill>
            <a:srgbClr val="CFE8FE">
              <a:alpha val="157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14295" y="5576358"/>
            <a:ext cx="31089" cy="31089"/>
          </a:xfrm>
          <a:prstGeom prst="ellipse">
            <a:avLst/>
          </a:prstGeom>
          <a:solidFill>
            <a:srgbClr val="CFE8FE">
              <a:alpha val="53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99481" y="4809984"/>
            <a:ext cx="23774" cy="23774"/>
          </a:xfrm>
          <a:prstGeom prst="ellipse">
            <a:avLst/>
          </a:prstGeom>
          <a:solidFill>
            <a:srgbClr val="CFE8FE">
              <a:alpha val="1278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96535" y="4879065"/>
            <a:ext cx="31089" cy="31089"/>
          </a:xfrm>
          <a:prstGeom prst="ellipse">
            <a:avLst/>
          </a:prstGeom>
          <a:solidFill>
            <a:srgbClr val="CFE8FE">
              <a:alpha val="167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54548" y="328794"/>
            <a:ext cx="23774" cy="23774"/>
          </a:xfrm>
          <a:prstGeom prst="ellipse">
            <a:avLst/>
          </a:prstGeom>
          <a:solidFill>
            <a:srgbClr val="CFE8FE">
              <a:alpha val="1820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44657" y="1416493"/>
            <a:ext cx="16459" cy="16459"/>
          </a:xfrm>
          <a:prstGeom prst="ellipse">
            <a:avLst/>
          </a:prstGeom>
          <a:solidFill>
            <a:srgbClr val="CFE8FE">
              <a:alpha val="138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99666" y="4101235"/>
            <a:ext cx="23774" cy="23774"/>
          </a:xfrm>
          <a:prstGeom prst="ellipse">
            <a:avLst/>
          </a:prstGeom>
          <a:solidFill>
            <a:srgbClr val="CFE8FE">
              <a:alpha val="65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35889" y="1254189"/>
            <a:ext cx="16459" cy="16459"/>
          </a:xfrm>
          <a:prstGeom prst="ellipse">
            <a:avLst/>
          </a:prstGeom>
          <a:solidFill>
            <a:srgbClr val="CFE8FE">
              <a:alpha val="176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15327" y="4596811"/>
            <a:ext cx="16459" cy="16459"/>
          </a:xfrm>
          <a:prstGeom prst="ellipse">
            <a:avLst/>
          </a:prstGeom>
          <a:solidFill>
            <a:srgbClr val="CFE8FE">
              <a:alpha val="1999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45867" y="3648308"/>
            <a:ext cx="16459" cy="16459"/>
          </a:xfrm>
          <a:prstGeom prst="ellipse">
            <a:avLst/>
          </a:prstGeom>
          <a:solidFill>
            <a:srgbClr val="CFE8FE">
              <a:alpha val="628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53048" y="1657694"/>
            <a:ext cx="16459" cy="16459"/>
          </a:xfrm>
          <a:prstGeom prst="ellipse">
            <a:avLst/>
          </a:prstGeom>
          <a:solidFill>
            <a:srgbClr val="CFE8FE">
              <a:alpha val="138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33751" y="4882651"/>
            <a:ext cx="31089" cy="31089"/>
          </a:xfrm>
          <a:prstGeom prst="ellipse">
            <a:avLst/>
          </a:prstGeom>
          <a:solidFill>
            <a:srgbClr val="CFE8FE">
              <a:alpha val="581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108020" y="1649356"/>
            <a:ext cx="31089" cy="31089"/>
          </a:xfrm>
          <a:prstGeom prst="ellipse">
            <a:avLst/>
          </a:prstGeom>
          <a:solidFill>
            <a:srgbClr val="CFE8FE">
              <a:alpha val="187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96979" y="4722039"/>
            <a:ext cx="16459" cy="16459"/>
          </a:xfrm>
          <a:prstGeom prst="ellipse">
            <a:avLst/>
          </a:prstGeom>
          <a:solidFill>
            <a:srgbClr val="CFE8FE">
              <a:alpha val="60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PROJECT OVERVIEW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E9F1FB"/>
                </a:solidFill>
                <a:latin typeface="Segoe UI"/>
              </a:rPr>
              <a:t>SmartPrice.AI is a complete web app — built 100% in Python — that turns raw price data into a buying decision.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2240280"/>
            <a:ext cx="352044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41247" y="2423160"/>
            <a:ext cx="548640" cy="402336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2953512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One-search multi-store compare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8E9DB8"/>
                </a:solidFill>
                <a:latin typeface="Segoe UI"/>
              </a:rPr>
              <a:t>Brand store, Amazon &amp; Flipkart — sorted cheap → costly.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4251960"/>
            <a:ext cx="352044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41247" y="4434840"/>
            <a:ext cx="548640" cy="402336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965192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LOWEST price badge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8E9DB8"/>
                </a:solidFill>
                <a:latin typeface="Segoe UI"/>
              </a:rPr>
              <a:t>The cheapest store is flagged instantly, so you never overpay.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6263640"/>
            <a:ext cx="352044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41247" y="6446520"/>
            <a:ext cx="548640" cy="402336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6976872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AI price forecast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8E9DB8"/>
                </a:solidFill>
                <a:latin typeface="Segoe UI"/>
              </a:rPr>
              <a:t>2-week forward prediction per store, no ML libraries.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34840" y="2240280"/>
            <a:ext cx="352044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636008" y="2423160"/>
            <a:ext cx="548640" cy="402336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2953512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BUY NOW / WAIT verdict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8E9DB8"/>
                </a:solidFill>
                <a:latin typeface="Segoe UI"/>
              </a:rPr>
              <a:t>Clear recommendation plus the estimated saving if you wait.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434840" y="4251960"/>
            <a:ext cx="352044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636008" y="4434840"/>
            <a:ext cx="548640" cy="402336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965192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14-week price history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8E9DB8"/>
                </a:solidFill>
                <a:latin typeface="Segoe UI"/>
              </a:rPr>
              <a:t>Transparent trend showing how each store price moved.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34840" y="6263640"/>
            <a:ext cx="3520440" cy="173736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636008" y="6446520"/>
            <a:ext cx="548640" cy="402336"/>
          </a:xfrm>
          <a:prstGeom prst="roundRect">
            <a:avLst>
              <a:gd name="adj" fmla="val 30000"/>
            </a:avLst>
          </a:prstGeom>
          <a:solidFill>
            <a:srgbClr val="162A4A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6976872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E9F1FB"/>
                </a:solidFill>
                <a:latin typeface="Segoe UI"/>
              </a:rPr>
              <a:t>Buy-instantly deep links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8E9DB8"/>
                </a:solidFill>
                <a:latin typeface="Segoe UI"/>
              </a:rPr>
              <a:t>One tap takes you to the live product page.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orbit dir="r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2194560"/>
            <a:ext cx="5486400" cy="548640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19" y="3200400"/>
            <a:ext cx="6217920" cy="621792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87839" y="3094776"/>
            <a:ext cx="16459" cy="16459"/>
          </a:xfrm>
          <a:prstGeom prst="ellipse">
            <a:avLst/>
          </a:prstGeom>
          <a:solidFill>
            <a:srgbClr val="CFE8FE">
              <a:alpha val="155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9962" y="2957719"/>
            <a:ext cx="16459" cy="16459"/>
          </a:xfrm>
          <a:prstGeom prst="ellipse">
            <a:avLst/>
          </a:prstGeom>
          <a:solidFill>
            <a:srgbClr val="CFE8FE">
              <a:alpha val="129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24" y="3101298"/>
            <a:ext cx="16459" cy="16459"/>
          </a:xfrm>
          <a:prstGeom prst="ellipse">
            <a:avLst/>
          </a:prstGeom>
          <a:solidFill>
            <a:srgbClr val="CFE8FE">
              <a:alpha val="14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61430" y="1491750"/>
            <a:ext cx="16459" cy="16459"/>
          </a:xfrm>
          <a:prstGeom prst="ellipse">
            <a:avLst/>
          </a:prstGeom>
          <a:solidFill>
            <a:srgbClr val="CFE8FE">
              <a:alpha val="96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72010" y="1487808"/>
            <a:ext cx="16459" cy="16459"/>
          </a:xfrm>
          <a:prstGeom prst="ellipse">
            <a:avLst/>
          </a:prstGeom>
          <a:solidFill>
            <a:srgbClr val="CFE8FE">
              <a:alpha val="711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33134" y="2551573"/>
            <a:ext cx="23774" cy="23774"/>
          </a:xfrm>
          <a:prstGeom prst="ellipse">
            <a:avLst/>
          </a:prstGeom>
          <a:solidFill>
            <a:srgbClr val="CFE8FE">
              <a:alpha val="1944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50548" y="6302689"/>
            <a:ext cx="31089" cy="31089"/>
          </a:xfrm>
          <a:prstGeom prst="ellipse">
            <a:avLst/>
          </a:prstGeom>
          <a:solidFill>
            <a:srgbClr val="CFE8FE">
              <a:alpha val="91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56518" y="2583813"/>
            <a:ext cx="31089" cy="31089"/>
          </a:xfrm>
          <a:prstGeom prst="ellipse">
            <a:avLst/>
          </a:prstGeom>
          <a:solidFill>
            <a:srgbClr val="CFE8FE">
              <a:alpha val="145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97235" y="4041040"/>
            <a:ext cx="16459" cy="16459"/>
          </a:xfrm>
          <a:prstGeom prst="ellipse">
            <a:avLst/>
          </a:prstGeom>
          <a:solidFill>
            <a:srgbClr val="CFE8FE">
              <a:alpha val="166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9370" y="1415934"/>
            <a:ext cx="16459" cy="16459"/>
          </a:xfrm>
          <a:prstGeom prst="ellipse">
            <a:avLst/>
          </a:prstGeom>
          <a:solidFill>
            <a:srgbClr val="CFE8FE">
              <a:alpha val="1870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59438" y="3051670"/>
            <a:ext cx="31089" cy="31089"/>
          </a:xfrm>
          <a:prstGeom prst="ellipse">
            <a:avLst/>
          </a:prstGeom>
          <a:solidFill>
            <a:srgbClr val="CFE8FE">
              <a:alpha val="188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20184" y="4176162"/>
            <a:ext cx="16459" cy="16459"/>
          </a:xfrm>
          <a:prstGeom prst="ellipse">
            <a:avLst/>
          </a:prstGeom>
          <a:solidFill>
            <a:srgbClr val="CFE8FE">
              <a:alpha val="141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78436" y="5143215"/>
            <a:ext cx="31089" cy="31089"/>
          </a:xfrm>
          <a:prstGeom prst="ellipse">
            <a:avLst/>
          </a:prstGeom>
          <a:solidFill>
            <a:srgbClr val="CFE8FE">
              <a:alpha val="1570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6060" y="2350928"/>
            <a:ext cx="31089" cy="31089"/>
          </a:xfrm>
          <a:prstGeom prst="ellipse">
            <a:avLst/>
          </a:prstGeom>
          <a:solidFill>
            <a:srgbClr val="CFE8FE">
              <a:alpha val="1014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80378" y="2506363"/>
            <a:ext cx="23774" cy="23774"/>
          </a:xfrm>
          <a:prstGeom prst="ellipse">
            <a:avLst/>
          </a:prstGeom>
          <a:solidFill>
            <a:srgbClr val="CFE8FE">
              <a:alpha val="110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883" y="831425"/>
            <a:ext cx="23774" cy="23774"/>
          </a:xfrm>
          <a:prstGeom prst="ellipse">
            <a:avLst/>
          </a:prstGeom>
          <a:solidFill>
            <a:srgbClr val="CFE8FE">
              <a:alpha val="1477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38606" y="5606741"/>
            <a:ext cx="31089" cy="31089"/>
          </a:xfrm>
          <a:prstGeom prst="ellipse">
            <a:avLst/>
          </a:prstGeom>
          <a:solidFill>
            <a:srgbClr val="CFE8FE">
              <a:alpha val="1572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59600" y="3470196"/>
            <a:ext cx="23774" cy="23774"/>
          </a:xfrm>
          <a:prstGeom prst="ellipse">
            <a:avLst/>
          </a:prstGeom>
          <a:solidFill>
            <a:srgbClr val="CFE8FE">
              <a:alpha val="1852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58239" y="555529"/>
            <a:ext cx="31089" cy="31089"/>
          </a:xfrm>
          <a:prstGeom prst="ellipse">
            <a:avLst/>
          </a:prstGeom>
          <a:solidFill>
            <a:srgbClr val="CFE8FE">
              <a:alpha val="179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10635" y="5008296"/>
            <a:ext cx="31089" cy="31089"/>
          </a:xfrm>
          <a:prstGeom prst="ellipse">
            <a:avLst/>
          </a:prstGeom>
          <a:solidFill>
            <a:srgbClr val="CFE8FE">
              <a:alpha val="1543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84284" y="5188783"/>
            <a:ext cx="16459" cy="16459"/>
          </a:xfrm>
          <a:prstGeom prst="ellipse">
            <a:avLst/>
          </a:prstGeom>
          <a:solidFill>
            <a:srgbClr val="CFE8FE">
              <a:alpha val="182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21990" y="1568403"/>
            <a:ext cx="31089" cy="31089"/>
          </a:xfrm>
          <a:prstGeom prst="ellipse">
            <a:avLst/>
          </a:prstGeom>
          <a:solidFill>
            <a:srgbClr val="CFE8FE">
              <a:alpha val="159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63947" y="3099658"/>
            <a:ext cx="31089" cy="31089"/>
          </a:xfrm>
          <a:prstGeom prst="ellipse">
            <a:avLst/>
          </a:prstGeom>
          <a:solidFill>
            <a:srgbClr val="CFE8FE">
              <a:alpha val="67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39804" y="3545112"/>
            <a:ext cx="31089" cy="31089"/>
          </a:xfrm>
          <a:prstGeom prst="ellipse">
            <a:avLst/>
          </a:prstGeom>
          <a:solidFill>
            <a:srgbClr val="CFE8FE">
              <a:alpha val="139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7200" y="4822538"/>
            <a:ext cx="16459" cy="16459"/>
          </a:xfrm>
          <a:prstGeom prst="ellipse">
            <a:avLst/>
          </a:prstGeom>
          <a:solidFill>
            <a:srgbClr val="CFE8FE">
              <a:alpha val="1100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30506" y="4141674"/>
            <a:ext cx="31089" cy="31089"/>
          </a:xfrm>
          <a:prstGeom prst="ellipse">
            <a:avLst/>
          </a:prstGeom>
          <a:solidFill>
            <a:srgbClr val="CFE8FE">
              <a:alpha val="1465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23463" y="431697"/>
            <a:ext cx="23774" cy="23774"/>
          </a:xfrm>
          <a:prstGeom prst="ellipse">
            <a:avLst/>
          </a:prstGeom>
          <a:solidFill>
            <a:srgbClr val="CFE8FE">
              <a:alpha val="741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31750" y="5769985"/>
            <a:ext cx="16459" cy="16459"/>
          </a:xfrm>
          <a:prstGeom prst="ellipse">
            <a:avLst/>
          </a:prstGeom>
          <a:solidFill>
            <a:srgbClr val="CFE8FE">
              <a:alpha val="199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15198" y="1190806"/>
            <a:ext cx="16459" cy="16459"/>
          </a:xfrm>
          <a:prstGeom prst="ellipse">
            <a:avLst/>
          </a:prstGeom>
          <a:solidFill>
            <a:srgbClr val="CFE8FE">
              <a:alpha val="70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90438" y="970242"/>
            <a:ext cx="16459" cy="16459"/>
          </a:xfrm>
          <a:prstGeom prst="ellipse">
            <a:avLst/>
          </a:prstGeom>
          <a:solidFill>
            <a:srgbClr val="CFE8FE">
              <a:alpha val="1531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TECHNOLOGY STACK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69164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1691640"/>
            <a:ext cx="82296" cy="1783080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1920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22D3EE"/>
                </a:solidFill>
                <a:latin typeface="Segoe UI"/>
              </a:rPr>
              <a:t>●  PYTHON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25146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Single language all the way — logic, API and AI.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379476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3794760"/>
            <a:ext cx="82296" cy="1783080"/>
          </a:xfrm>
          <a:prstGeom prst="rect">
            <a:avLst/>
          </a:prstGeom>
          <a:solidFill>
            <a:srgbClr val="8B5CF6"/>
          </a:solidFill>
          <a:ln>
            <a:noFill/>
          </a:ln>
          <a:effectLst>
            <a:glow rad="60000">
              <a:srgbClr val="8B5CF6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402336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8B5CF6"/>
                </a:solidFill>
                <a:latin typeface="Segoe UI"/>
              </a:rPr>
              <a:t>●  FLASK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46177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Lightweight web framework for the app and JSON API.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0080" y="5897879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0080" y="5897879"/>
            <a:ext cx="82296" cy="1783080"/>
          </a:xfrm>
          <a:prstGeom prst="rect">
            <a:avLst/>
          </a:prstGeom>
          <a:solidFill>
            <a:srgbClr val="34D399"/>
          </a:solidFill>
          <a:ln>
            <a:noFill/>
          </a:ln>
          <a:effectLst>
            <a:glow rad="60000">
              <a:srgbClr val="34D399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612647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34D399"/>
                </a:solidFill>
                <a:latin typeface="Segoe UI"/>
              </a:rPr>
              <a:t>●  HTML • CSS • JS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6720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Dark, modern, responsive interface.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34840" y="169164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34840" y="1691640"/>
            <a:ext cx="82296" cy="1783080"/>
          </a:xfrm>
          <a:prstGeom prst="rect">
            <a:avLst/>
          </a:prstGeom>
          <a:solidFill>
            <a:srgbClr val="FBBF24"/>
          </a:solidFill>
          <a:ln>
            <a:noFill/>
          </a:ln>
          <a:effectLst>
            <a:glow rad="60000">
              <a:srgbClr val="FBBF24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09160" y="1920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FBBF24"/>
                </a:solidFill>
                <a:latin typeface="Segoe UI"/>
              </a:rPr>
              <a:t>●  LINEAR REGRESSION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09160" y="25146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From-scratch forecaster — no sklearn, no NumPy.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34840" y="379476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34840" y="3794760"/>
            <a:ext cx="82296" cy="178308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glow rad="60000">
              <a:srgbClr val="F87171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09160" y="402336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F87171"/>
                </a:solidFill>
                <a:latin typeface="Segoe UI"/>
              </a:rPr>
              <a:t>●  GIT &amp; GITHUB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09160" y="46177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Version control + public code hosting.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34840" y="5897879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434840" y="5897879"/>
            <a:ext cx="82296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glow rad="60000">
              <a:srgbClr val="FFFFFF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09160" y="612647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●  RENDER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9160" y="6720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Free cloud hosting with auto-deploy from GitHub.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No external ML libraries — the whole machine-learning engine is hand-written pure Python.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turntable dir="l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920240" y="-1371600"/>
            <a:ext cx="4754880" cy="475488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017520"/>
            <a:ext cx="5486400" cy="548640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84870" y="1429464"/>
            <a:ext cx="31089" cy="31089"/>
          </a:xfrm>
          <a:prstGeom prst="ellipse">
            <a:avLst/>
          </a:prstGeom>
          <a:solidFill>
            <a:srgbClr val="CFE8FE">
              <a:alpha val="188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50420" y="4429622"/>
            <a:ext cx="16459" cy="16459"/>
          </a:xfrm>
          <a:prstGeom prst="ellipse">
            <a:avLst/>
          </a:prstGeom>
          <a:solidFill>
            <a:srgbClr val="CFE8FE">
              <a:alpha val="1403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21981" y="3290235"/>
            <a:ext cx="16459" cy="16459"/>
          </a:xfrm>
          <a:prstGeom prst="ellipse">
            <a:avLst/>
          </a:prstGeom>
          <a:solidFill>
            <a:srgbClr val="CFE8FE">
              <a:alpha val="99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09161" y="1816632"/>
            <a:ext cx="16459" cy="16459"/>
          </a:xfrm>
          <a:prstGeom prst="ellipse">
            <a:avLst/>
          </a:prstGeom>
          <a:solidFill>
            <a:srgbClr val="CFE8FE">
              <a:alpha val="63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93941" y="2528869"/>
            <a:ext cx="23774" cy="23774"/>
          </a:xfrm>
          <a:prstGeom prst="ellipse">
            <a:avLst/>
          </a:prstGeom>
          <a:solidFill>
            <a:srgbClr val="CFE8FE">
              <a:alpha val="167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78109" y="5247160"/>
            <a:ext cx="23774" cy="23774"/>
          </a:xfrm>
          <a:prstGeom prst="ellipse">
            <a:avLst/>
          </a:prstGeom>
          <a:solidFill>
            <a:srgbClr val="CFE8FE">
              <a:alpha val="81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7540" y="2130578"/>
            <a:ext cx="16459" cy="16459"/>
          </a:xfrm>
          <a:prstGeom prst="ellipse">
            <a:avLst/>
          </a:prstGeom>
          <a:solidFill>
            <a:srgbClr val="CFE8FE">
              <a:alpha val="14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97072" y="2285744"/>
            <a:ext cx="23774" cy="23774"/>
          </a:xfrm>
          <a:prstGeom prst="ellipse">
            <a:avLst/>
          </a:prstGeom>
          <a:solidFill>
            <a:srgbClr val="CFE8FE">
              <a:alpha val="1091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2074" y="2890207"/>
            <a:ext cx="23774" cy="23774"/>
          </a:xfrm>
          <a:prstGeom prst="ellipse">
            <a:avLst/>
          </a:prstGeom>
          <a:solidFill>
            <a:srgbClr val="CFE8FE">
              <a:alpha val="161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80383" y="5763281"/>
            <a:ext cx="16459" cy="16459"/>
          </a:xfrm>
          <a:prstGeom prst="ellipse">
            <a:avLst/>
          </a:prstGeom>
          <a:solidFill>
            <a:srgbClr val="CFE8FE">
              <a:alpha val="130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26888" y="322840"/>
            <a:ext cx="31089" cy="31089"/>
          </a:xfrm>
          <a:prstGeom prst="ellipse">
            <a:avLst/>
          </a:prstGeom>
          <a:solidFill>
            <a:srgbClr val="CFE8FE">
              <a:alpha val="103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50176" y="5427570"/>
            <a:ext cx="16459" cy="16459"/>
          </a:xfrm>
          <a:prstGeom prst="ellipse">
            <a:avLst/>
          </a:prstGeom>
          <a:solidFill>
            <a:srgbClr val="CFE8FE">
              <a:alpha val="114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33682" y="5070576"/>
            <a:ext cx="23774" cy="23774"/>
          </a:xfrm>
          <a:prstGeom prst="ellipse">
            <a:avLst/>
          </a:prstGeom>
          <a:solidFill>
            <a:srgbClr val="CFE8FE">
              <a:alpha val="152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06859" y="2504990"/>
            <a:ext cx="31089" cy="31089"/>
          </a:xfrm>
          <a:prstGeom prst="ellipse">
            <a:avLst/>
          </a:prstGeom>
          <a:solidFill>
            <a:srgbClr val="CFE8FE">
              <a:alpha val="135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29666" y="5584227"/>
            <a:ext cx="31089" cy="31089"/>
          </a:xfrm>
          <a:prstGeom prst="ellipse">
            <a:avLst/>
          </a:prstGeom>
          <a:solidFill>
            <a:srgbClr val="CFE8FE">
              <a:alpha val="966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65527" y="4606346"/>
            <a:ext cx="31089" cy="31089"/>
          </a:xfrm>
          <a:prstGeom prst="ellipse">
            <a:avLst/>
          </a:prstGeom>
          <a:solidFill>
            <a:srgbClr val="CFE8FE">
              <a:alpha val="1809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45075" y="605003"/>
            <a:ext cx="31089" cy="31089"/>
          </a:xfrm>
          <a:prstGeom prst="ellipse">
            <a:avLst/>
          </a:prstGeom>
          <a:solidFill>
            <a:srgbClr val="CFE8FE">
              <a:alpha val="1018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56318" y="5788105"/>
            <a:ext cx="16459" cy="16459"/>
          </a:xfrm>
          <a:prstGeom prst="ellipse">
            <a:avLst/>
          </a:prstGeom>
          <a:solidFill>
            <a:srgbClr val="CFE8FE">
              <a:alpha val="151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21009" y="4058194"/>
            <a:ext cx="23774" cy="23774"/>
          </a:xfrm>
          <a:prstGeom prst="ellipse">
            <a:avLst/>
          </a:prstGeom>
          <a:solidFill>
            <a:srgbClr val="CFE8FE">
              <a:alpha val="1688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25181" y="1327550"/>
            <a:ext cx="16459" cy="16459"/>
          </a:xfrm>
          <a:prstGeom prst="ellipse">
            <a:avLst/>
          </a:prstGeom>
          <a:solidFill>
            <a:srgbClr val="CFE8FE">
              <a:alpha val="160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28393" y="3040685"/>
            <a:ext cx="16459" cy="16459"/>
          </a:xfrm>
          <a:prstGeom prst="ellipse">
            <a:avLst/>
          </a:prstGeom>
          <a:solidFill>
            <a:srgbClr val="CFE8FE">
              <a:alpha val="621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38361" y="2179522"/>
            <a:ext cx="23774" cy="23774"/>
          </a:xfrm>
          <a:prstGeom prst="ellipse">
            <a:avLst/>
          </a:prstGeom>
          <a:solidFill>
            <a:srgbClr val="CFE8FE">
              <a:alpha val="601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3130" y="4594346"/>
            <a:ext cx="23774" cy="23774"/>
          </a:xfrm>
          <a:prstGeom prst="ellipse">
            <a:avLst/>
          </a:prstGeom>
          <a:solidFill>
            <a:srgbClr val="CFE8FE">
              <a:alpha val="119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36139" y="4529435"/>
            <a:ext cx="23774" cy="23774"/>
          </a:xfrm>
          <a:prstGeom prst="ellipse">
            <a:avLst/>
          </a:prstGeom>
          <a:solidFill>
            <a:srgbClr val="CFE8FE">
              <a:alpha val="63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152864" y="1783196"/>
            <a:ext cx="16459" cy="16459"/>
          </a:xfrm>
          <a:prstGeom prst="ellipse">
            <a:avLst/>
          </a:prstGeom>
          <a:solidFill>
            <a:srgbClr val="CFE8FE">
              <a:alpha val="113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0508" y="5305180"/>
            <a:ext cx="23774" cy="23774"/>
          </a:xfrm>
          <a:prstGeom prst="ellipse">
            <a:avLst/>
          </a:prstGeom>
          <a:solidFill>
            <a:srgbClr val="CFE8FE">
              <a:alpha val="866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67054" y="6437861"/>
            <a:ext cx="16459" cy="16459"/>
          </a:xfrm>
          <a:prstGeom prst="ellipse">
            <a:avLst/>
          </a:prstGeom>
          <a:solidFill>
            <a:srgbClr val="CFE8FE">
              <a:alpha val="518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92249" y="5666559"/>
            <a:ext cx="23774" cy="23774"/>
          </a:xfrm>
          <a:prstGeom prst="ellipse">
            <a:avLst/>
          </a:prstGeom>
          <a:solidFill>
            <a:srgbClr val="CFE8FE">
              <a:alpha val="1483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3231" y="2336594"/>
            <a:ext cx="23774" cy="23774"/>
          </a:xfrm>
          <a:prstGeom prst="ellipse">
            <a:avLst/>
          </a:prstGeom>
          <a:solidFill>
            <a:srgbClr val="CFE8FE">
              <a:alpha val="1206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4269" y="3979333"/>
            <a:ext cx="23774" cy="23774"/>
          </a:xfrm>
          <a:prstGeom prst="ellipse">
            <a:avLst/>
          </a:prstGeom>
          <a:solidFill>
            <a:srgbClr val="CFE8FE">
              <a:alpha val="1001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THE AI ENGINE — LINEAR REGRESSION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554480"/>
            <a:ext cx="5486400" cy="43434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1783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How the forecast 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331720"/>
            <a:ext cx="49377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22D3EE"/>
                </a:solidFill>
                <a:latin typeface="Segoe UI"/>
              </a:rPr>
              <a:t>  </a:t>
            </a:r>
            <a:r>
              <a:rPr sz="1350" b="0">
                <a:solidFill>
                  <a:srgbClr val="E9F1FB"/>
                </a:solidFill>
                <a:latin typeface="Segoe UI"/>
              </a:rPr>
              <a:t>Each store has a 14-week price history.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22D3EE"/>
                </a:solidFill>
                <a:latin typeface="Segoe UI"/>
              </a:rPr>
              <a:t>  </a:t>
            </a:r>
            <a:r>
              <a:rPr sz="1350" b="0">
                <a:solidFill>
                  <a:srgbClr val="E9F1FB"/>
                </a:solidFill>
                <a:latin typeface="Segoe UI"/>
              </a:rPr>
              <a:t>Fit the best-fit line:  y = m·x + 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22D3EE"/>
                </a:solidFill>
                <a:latin typeface="Segoe UI"/>
              </a:rPr>
              <a:t>  </a:t>
            </a:r>
            <a:r>
              <a:rPr sz="1350" b="0">
                <a:solidFill>
                  <a:srgbClr val="E9F1FB"/>
                </a:solidFill>
                <a:latin typeface="Segoe UI"/>
              </a:rPr>
              <a:t>Slope m ₹/week and intercept c summarise the trend.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22D3EE"/>
                </a:solidFill>
                <a:latin typeface="Segoe UI"/>
              </a:rPr>
              <a:t>  </a:t>
            </a:r>
            <a:r>
              <a:rPr sz="1350" b="0">
                <a:solidFill>
                  <a:srgbClr val="E9F1FB"/>
                </a:solidFill>
                <a:latin typeface="Segoe UI"/>
              </a:rPr>
              <a:t>Extend the line 2 weeks ahead → predicted price.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22D3EE"/>
                </a:solidFill>
                <a:latin typeface="Segoe UI"/>
              </a:rPr>
              <a:t>  </a:t>
            </a:r>
            <a:r>
              <a:rPr sz="1350" b="0">
                <a:solidFill>
                  <a:srgbClr val="E9F1FB"/>
                </a:solidFill>
                <a:latin typeface="Segoe UI"/>
              </a:rPr>
              <a:t>Forecast vs current tells the direction: up or down.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1554480"/>
            <a:ext cx="54864" cy="4343400"/>
          </a:xfrm>
          <a:prstGeom prst="rect">
            <a:avLst/>
          </a:prstGeom>
          <a:solidFill>
            <a:srgbClr val="8B5CF6"/>
          </a:solidFill>
          <a:ln>
            <a:noFill/>
          </a:ln>
          <a:effectLst>
            <a:glow rad="60000">
              <a:srgbClr val="8B5CF6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73952" y="1554480"/>
            <a:ext cx="5074920" cy="43434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5240">
            <a:solidFill>
              <a:srgbClr val="8B5CF6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8B5CF6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8272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8B5CF6"/>
                </a:solidFill>
                <a:latin typeface="Segoe UI"/>
              </a:rPr>
              <a:t>VERDICT MATRIX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48272" y="2331720"/>
            <a:ext cx="4526280" cy="9144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9525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0" y="247802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Slope  &gt;  +1%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18320" y="2478024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E9DB8"/>
                </a:solidFill>
                <a:latin typeface="Segoe UI"/>
              </a:rPr>
              <a:t>Price RISING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0" y="278892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BUY NOW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48272" y="3447287"/>
            <a:ext cx="4526280" cy="9144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9525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9440" y="3593591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Slope  &lt;  -1%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18320" y="3593591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E9DB8"/>
                </a:solidFill>
                <a:latin typeface="Segoe UI"/>
              </a:rPr>
              <a:t>Price FALLING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9440" y="3904487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WAIT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48272" y="4562855"/>
            <a:ext cx="4526280" cy="9144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9525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4709159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Otherwise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4709159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E9DB8"/>
                </a:solidFill>
                <a:latin typeface="Segoe UI"/>
              </a:rPr>
              <a:t>Price STABLE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9440" y="5020055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Segoe UI"/>
              </a:rPr>
              <a:t>BUY NOW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48272" y="5577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8E9DB8"/>
                </a:solidFill>
                <a:latin typeface="Segoe UI"/>
              </a:rPr>
              <a:t>Evaluation: R² from residuals validates each store fit.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800">
        <p14:doors dir="l" orient="h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-731520"/>
            <a:ext cx="4023360" cy="402336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926079"/>
            <a:ext cx="6217920" cy="621792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917123" y="4125550"/>
            <a:ext cx="16459" cy="16459"/>
          </a:xfrm>
          <a:prstGeom prst="ellipse">
            <a:avLst/>
          </a:prstGeom>
          <a:solidFill>
            <a:srgbClr val="CFE8FE">
              <a:alpha val="1331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18451" y="1350925"/>
            <a:ext cx="23774" cy="23774"/>
          </a:xfrm>
          <a:prstGeom prst="ellipse">
            <a:avLst/>
          </a:prstGeom>
          <a:solidFill>
            <a:srgbClr val="CFE8FE">
              <a:alpha val="142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10479" y="459537"/>
            <a:ext cx="31089" cy="31089"/>
          </a:xfrm>
          <a:prstGeom prst="ellipse">
            <a:avLst/>
          </a:prstGeom>
          <a:solidFill>
            <a:srgbClr val="CFE8FE">
              <a:alpha val="1314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18445" y="5847480"/>
            <a:ext cx="16459" cy="16459"/>
          </a:xfrm>
          <a:prstGeom prst="ellipse">
            <a:avLst/>
          </a:prstGeom>
          <a:solidFill>
            <a:srgbClr val="CFE8FE">
              <a:alpha val="1602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96812" y="1634835"/>
            <a:ext cx="16459" cy="16459"/>
          </a:xfrm>
          <a:prstGeom prst="ellipse">
            <a:avLst/>
          </a:prstGeom>
          <a:solidFill>
            <a:srgbClr val="CFE8FE">
              <a:alpha val="62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1622" y="1359103"/>
            <a:ext cx="31089" cy="31089"/>
          </a:xfrm>
          <a:prstGeom prst="ellipse">
            <a:avLst/>
          </a:prstGeom>
          <a:solidFill>
            <a:srgbClr val="CFE8FE">
              <a:alpha val="1162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47223" y="1604015"/>
            <a:ext cx="31089" cy="31089"/>
          </a:xfrm>
          <a:prstGeom prst="ellipse">
            <a:avLst/>
          </a:prstGeom>
          <a:solidFill>
            <a:srgbClr val="CFE8FE">
              <a:alpha val="128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27129" y="2820177"/>
            <a:ext cx="23774" cy="23774"/>
          </a:xfrm>
          <a:prstGeom prst="ellipse">
            <a:avLst/>
          </a:prstGeom>
          <a:solidFill>
            <a:srgbClr val="CFE8FE">
              <a:alpha val="150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67289" y="771774"/>
            <a:ext cx="23774" cy="23774"/>
          </a:xfrm>
          <a:prstGeom prst="ellipse">
            <a:avLst/>
          </a:prstGeom>
          <a:solidFill>
            <a:srgbClr val="CFE8FE">
              <a:alpha val="106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59205" y="2918630"/>
            <a:ext cx="31089" cy="31089"/>
          </a:xfrm>
          <a:prstGeom prst="ellipse">
            <a:avLst/>
          </a:prstGeom>
          <a:solidFill>
            <a:srgbClr val="CFE8FE">
              <a:alpha val="1146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46298" y="5992081"/>
            <a:ext cx="16459" cy="16459"/>
          </a:xfrm>
          <a:prstGeom prst="ellipse">
            <a:avLst/>
          </a:prstGeom>
          <a:solidFill>
            <a:srgbClr val="CFE8FE">
              <a:alpha val="1045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3370" y="1701451"/>
            <a:ext cx="23774" cy="23774"/>
          </a:xfrm>
          <a:prstGeom prst="ellipse">
            <a:avLst/>
          </a:prstGeom>
          <a:solidFill>
            <a:srgbClr val="CFE8FE">
              <a:alpha val="1149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14606" y="3002967"/>
            <a:ext cx="31089" cy="31089"/>
          </a:xfrm>
          <a:prstGeom prst="ellipse">
            <a:avLst/>
          </a:prstGeom>
          <a:solidFill>
            <a:srgbClr val="CFE8FE">
              <a:alpha val="165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9782" y="2205617"/>
            <a:ext cx="31089" cy="31089"/>
          </a:xfrm>
          <a:prstGeom prst="ellipse">
            <a:avLst/>
          </a:prstGeom>
          <a:solidFill>
            <a:srgbClr val="CFE8FE">
              <a:alpha val="120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73297" y="3044898"/>
            <a:ext cx="31089" cy="31089"/>
          </a:xfrm>
          <a:prstGeom prst="ellipse">
            <a:avLst/>
          </a:prstGeom>
          <a:solidFill>
            <a:srgbClr val="CFE8FE">
              <a:alpha val="198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68846" y="1510099"/>
            <a:ext cx="16459" cy="16459"/>
          </a:xfrm>
          <a:prstGeom prst="ellipse">
            <a:avLst/>
          </a:prstGeom>
          <a:solidFill>
            <a:srgbClr val="CFE8FE">
              <a:alpha val="161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08892" y="6039571"/>
            <a:ext cx="31089" cy="31089"/>
          </a:xfrm>
          <a:prstGeom prst="ellipse">
            <a:avLst/>
          </a:prstGeom>
          <a:solidFill>
            <a:srgbClr val="CFE8FE">
              <a:alpha val="74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80369" y="2548977"/>
            <a:ext cx="16459" cy="16459"/>
          </a:xfrm>
          <a:prstGeom prst="ellipse">
            <a:avLst/>
          </a:prstGeom>
          <a:solidFill>
            <a:srgbClr val="CFE8FE">
              <a:alpha val="109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58091" y="6225698"/>
            <a:ext cx="16459" cy="16459"/>
          </a:xfrm>
          <a:prstGeom prst="ellipse">
            <a:avLst/>
          </a:prstGeom>
          <a:solidFill>
            <a:srgbClr val="CFE8FE">
              <a:alpha val="96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96699" y="3531116"/>
            <a:ext cx="23774" cy="23774"/>
          </a:xfrm>
          <a:prstGeom prst="ellipse">
            <a:avLst/>
          </a:prstGeom>
          <a:solidFill>
            <a:srgbClr val="CFE8FE">
              <a:alpha val="158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44561" y="5863609"/>
            <a:ext cx="16459" cy="16459"/>
          </a:xfrm>
          <a:prstGeom prst="ellipse">
            <a:avLst/>
          </a:prstGeom>
          <a:solidFill>
            <a:srgbClr val="CFE8FE">
              <a:alpha val="8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24449" y="4424568"/>
            <a:ext cx="16459" cy="16459"/>
          </a:xfrm>
          <a:prstGeom prst="ellipse">
            <a:avLst/>
          </a:prstGeom>
          <a:solidFill>
            <a:srgbClr val="CFE8FE">
              <a:alpha val="127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89143" y="4023924"/>
            <a:ext cx="31089" cy="31089"/>
          </a:xfrm>
          <a:prstGeom prst="ellipse">
            <a:avLst/>
          </a:prstGeom>
          <a:solidFill>
            <a:srgbClr val="CFE8FE">
              <a:alpha val="844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6833" y="2673780"/>
            <a:ext cx="16459" cy="16459"/>
          </a:xfrm>
          <a:prstGeom prst="ellipse">
            <a:avLst/>
          </a:prstGeom>
          <a:solidFill>
            <a:srgbClr val="CFE8FE">
              <a:alpha val="67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67443" y="210590"/>
            <a:ext cx="23774" cy="23774"/>
          </a:xfrm>
          <a:prstGeom prst="ellipse">
            <a:avLst/>
          </a:prstGeom>
          <a:solidFill>
            <a:srgbClr val="CFE8FE">
              <a:alpha val="97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07147" y="2835215"/>
            <a:ext cx="16459" cy="16459"/>
          </a:xfrm>
          <a:prstGeom prst="ellipse">
            <a:avLst/>
          </a:prstGeom>
          <a:solidFill>
            <a:srgbClr val="CFE8FE">
              <a:alpha val="11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884" y="5517231"/>
            <a:ext cx="31089" cy="31089"/>
          </a:xfrm>
          <a:prstGeom prst="ellipse">
            <a:avLst/>
          </a:prstGeom>
          <a:solidFill>
            <a:srgbClr val="CFE8FE">
              <a:alpha val="802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28425" y="5346275"/>
            <a:ext cx="23774" cy="23774"/>
          </a:xfrm>
          <a:prstGeom prst="ellipse">
            <a:avLst/>
          </a:prstGeom>
          <a:solidFill>
            <a:srgbClr val="CFE8FE">
              <a:alpha val="135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06365" y="4920090"/>
            <a:ext cx="23774" cy="23774"/>
          </a:xfrm>
          <a:prstGeom prst="ellipse">
            <a:avLst/>
          </a:prstGeom>
          <a:solidFill>
            <a:srgbClr val="CFE8FE">
              <a:alpha val="63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173137" y="5240386"/>
            <a:ext cx="23774" cy="23774"/>
          </a:xfrm>
          <a:prstGeom prst="ellipse">
            <a:avLst/>
          </a:prstGeom>
          <a:solidFill>
            <a:srgbClr val="CFE8FE">
              <a:alpha val="1504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DATASET &amp; PRICING ENGINE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554480"/>
            <a:ext cx="2606040" cy="16002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181051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22D3EE"/>
                </a:solidFill>
                <a:latin typeface="Segoe UI"/>
              </a:rPr>
              <a:t>413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59" y="2468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E9F1FB"/>
                </a:solidFill>
                <a:latin typeface="Segoe UI"/>
              </a:rPr>
              <a:t>Trending smartphones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0" y="1554480"/>
            <a:ext cx="2606040" cy="16002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0" y="181051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8B5CF6"/>
                </a:solidFill>
                <a:latin typeface="Segoe UI"/>
              </a:rPr>
              <a:t>1,200+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2468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E9F1FB"/>
                </a:solidFill>
                <a:latin typeface="Segoe UI"/>
              </a:rPr>
              <a:t>Store prices  (3 × per phone)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09360" y="1554480"/>
            <a:ext cx="2606040" cy="16002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181051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34D399"/>
                </a:solidFill>
                <a:latin typeface="Segoe UI"/>
              </a:rPr>
              <a:t>SEP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2468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E9F1FB"/>
                </a:solidFill>
                <a:latin typeface="Segoe UI"/>
              </a:rPr>
              <a:t>Prices as of — real researched listings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0" y="1554480"/>
            <a:ext cx="2606040" cy="16002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0" y="181051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FBBF24"/>
                </a:solidFill>
                <a:latin typeface="Segoe UI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2468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E9F1FB"/>
                </a:solidFill>
                <a:latin typeface="Segoe UI"/>
              </a:rPr>
              <a:t>Weeks of price history per store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3429000"/>
            <a:ext cx="10881360" cy="260604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400" y="365760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How prices are sourced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416052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  </a:t>
            </a:r>
            <a:r>
              <a:rPr sz="1300" b="0">
                <a:solidFill>
                  <a:srgbClr val="E9F1FB"/>
                </a:solidFill>
                <a:latin typeface="Segoe UI"/>
              </a:rPr>
              <a:t>Current prices are researched from real live listings — brand stores, Amazon India &amp; Flipkart (price trackers: 91mobiles, Smartprix, Gadgets360).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  </a:t>
            </a:r>
            <a:r>
              <a:rPr sz="1300" b="0">
                <a:solidFill>
                  <a:srgbClr val="E9F1FB"/>
                </a:solidFill>
                <a:latin typeface="Segoe UI"/>
              </a:rPr>
              <a:t>Each phone keeps a 14-week history; simulated but anchored so the LAST week equals the real current price.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  </a:t>
            </a:r>
            <a:r>
              <a:rPr sz="1300" b="0">
                <a:solidFill>
                  <a:srgbClr val="E9F1FB"/>
                </a:solidFill>
                <a:latin typeface="Segoe UI"/>
              </a:rPr>
              <a:t>Every seller deep-links to its live product page → the comparison stays actionable, not theoretical.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Data honesty: prices are labelled “as of September 2026” right inside the UI.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ripple dir="center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79" y="-2286000"/>
            <a:ext cx="5120640" cy="512064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46720" y="3840479"/>
            <a:ext cx="4754880" cy="4754880"/>
          </a:xfrm>
          <a:prstGeom prst="ellipse">
            <a:avLst/>
          </a:prstGeom>
          <a:gradFill>
            <a:gsLst>
              <a:gs pos="0">
                <a:srgbClr val="F59E0B">
                  <a:alpha val="26000"/>
                </a:srgbClr>
              </a:gs>
              <a:gs pos="60000">
                <a:srgbClr val="F59E0B">
                  <a:alpha val="7000"/>
                </a:srgbClr>
              </a:gs>
              <a:gs pos="100000">
                <a:srgbClr val="F59E0B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41995" y="3103554"/>
            <a:ext cx="31089" cy="31089"/>
          </a:xfrm>
          <a:prstGeom prst="ellipse">
            <a:avLst/>
          </a:prstGeom>
          <a:solidFill>
            <a:srgbClr val="CFE8FE">
              <a:alpha val="154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60069" y="4593575"/>
            <a:ext cx="31089" cy="31089"/>
          </a:xfrm>
          <a:prstGeom prst="ellipse">
            <a:avLst/>
          </a:prstGeom>
          <a:solidFill>
            <a:srgbClr val="CFE8FE">
              <a:alpha val="1608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41346" y="3134722"/>
            <a:ext cx="23774" cy="23774"/>
          </a:xfrm>
          <a:prstGeom prst="ellipse">
            <a:avLst/>
          </a:prstGeom>
          <a:solidFill>
            <a:srgbClr val="CFE8FE">
              <a:alpha val="180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054" y="709243"/>
            <a:ext cx="16459" cy="16459"/>
          </a:xfrm>
          <a:prstGeom prst="ellipse">
            <a:avLst/>
          </a:prstGeom>
          <a:solidFill>
            <a:srgbClr val="CFE8FE">
              <a:alpha val="1374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70476" y="464893"/>
            <a:ext cx="16459" cy="16459"/>
          </a:xfrm>
          <a:prstGeom prst="ellipse">
            <a:avLst/>
          </a:prstGeom>
          <a:solidFill>
            <a:srgbClr val="CFE8FE">
              <a:alpha val="1537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89637" y="2062632"/>
            <a:ext cx="31089" cy="31089"/>
          </a:xfrm>
          <a:prstGeom prst="ellipse">
            <a:avLst/>
          </a:prstGeom>
          <a:solidFill>
            <a:srgbClr val="CFE8FE">
              <a:alpha val="111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64320" y="4810629"/>
            <a:ext cx="23774" cy="23774"/>
          </a:xfrm>
          <a:prstGeom prst="ellipse">
            <a:avLst/>
          </a:prstGeom>
          <a:solidFill>
            <a:srgbClr val="CFE8FE">
              <a:alpha val="839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75558" y="5120206"/>
            <a:ext cx="31089" cy="31089"/>
          </a:xfrm>
          <a:prstGeom prst="ellipse">
            <a:avLst/>
          </a:prstGeom>
          <a:solidFill>
            <a:srgbClr val="CFE8FE">
              <a:alpha val="87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3220" y="3897488"/>
            <a:ext cx="31089" cy="31089"/>
          </a:xfrm>
          <a:prstGeom prst="ellipse">
            <a:avLst/>
          </a:prstGeom>
          <a:solidFill>
            <a:srgbClr val="CFE8FE">
              <a:alpha val="1427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38949" y="1789213"/>
            <a:ext cx="23774" cy="23774"/>
          </a:xfrm>
          <a:prstGeom prst="ellipse">
            <a:avLst/>
          </a:prstGeom>
          <a:solidFill>
            <a:srgbClr val="CFE8FE">
              <a:alpha val="186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52057" y="3564081"/>
            <a:ext cx="23774" cy="23774"/>
          </a:xfrm>
          <a:prstGeom prst="ellipse">
            <a:avLst/>
          </a:prstGeom>
          <a:solidFill>
            <a:srgbClr val="CFE8FE">
              <a:alpha val="1292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74038" y="2080647"/>
            <a:ext cx="23774" cy="23774"/>
          </a:xfrm>
          <a:prstGeom prst="ellipse">
            <a:avLst/>
          </a:prstGeom>
          <a:solidFill>
            <a:srgbClr val="CFE8FE">
              <a:alpha val="1749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18063" y="3465310"/>
            <a:ext cx="16459" cy="16459"/>
          </a:xfrm>
          <a:prstGeom prst="ellipse">
            <a:avLst/>
          </a:prstGeom>
          <a:solidFill>
            <a:srgbClr val="CFE8FE">
              <a:alpha val="1221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56797" y="5562618"/>
            <a:ext cx="31089" cy="31089"/>
          </a:xfrm>
          <a:prstGeom prst="ellipse">
            <a:avLst/>
          </a:prstGeom>
          <a:solidFill>
            <a:srgbClr val="CFE8FE">
              <a:alpha val="154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36905" y="3288245"/>
            <a:ext cx="16459" cy="16459"/>
          </a:xfrm>
          <a:prstGeom prst="ellipse">
            <a:avLst/>
          </a:prstGeom>
          <a:solidFill>
            <a:srgbClr val="CFE8FE">
              <a:alpha val="198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75929" y="5123078"/>
            <a:ext cx="31089" cy="31089"/>
          </a:xfrm>
          <a:prstGeom prst="ellipse">
            <a:avLst/>
          </a:prstGeom>
          <a:solidFill>
            <a:srgbClr val="CFE8FE">
              <a:alpha val="1074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7035" y="3238201"/>
            <a:ext cx="31089" cy="31089"/>
          </a:xfrm>
          <a:prstGeom prst="ellipse">
            <a:avLst/>
          </a:prstGeom>
          <a:solidFill>
            <a:srgbClr val="CFE8FE">
              <a:alpha val="109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68707" y="3026202"/>
            <a:ext cx="31089" cy="31089"/>
          </a:xfrm>
          <a:prstGeom prst="ellipse">
            <a:avLst/>
          </a:prstGeom>
          <a:solidFill>
            <a:srgbClr val="CFE8FE">
              <a:alpha val="183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49301" y="5167521"/>
            <a:ext cx="23774" cy="23774"/>
          </a:xfrm>
          <a:prstGeom prst="ellipse">
            <a:avLst/>
          </a:prstGeom>
          <a:solidFill>
            <a:srgbClr val="CFE8FE">
              <a:alpha val="147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6750" y="3661463"/>
            <a:ext cx="31089" cy="31089"/>
          </a:xfrm>
          <a:prstGeom prst="ellipse">
            <a:avLst/>
          </a:prstGeom>
          <a:solidFill>
            <a:srgbClr val="CFE8FE">
              <a:alpha val="85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44392" y="6163625"/>
            <a:ext cx="16459" cy="16459"/>
          </a:xfrm>
          <a:prstGeom prst="ellipse">
            <a:avLst/>
          </a:prstGeom>
          <a:solidFill>
            <a:srgbClr val="CFE8FE">
              <a:alpha val="136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47172" y="2615583"/>
            <a:ext cx="23774" cy="23774"/>
          </a:xfrm>
          <a:prstGeom prst="ellipse">
            <a:avLst/>
          </a:prstGeom>
          <a:solidFill>
            <a:srgbClr val="CFE8FE">
              <a:alpha val="1181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24608" y="1113509"/>
            <a:ext cx="16459" cy="16459"/>
          </a:xfrm>
          <a:prstGeom prst="ellipse">
            <a:avLst/>
          </a:prstGeom>
          <a:solidFill>
            <a:srgbClr val="CFE8FE">
              <a:alpha val="991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00302" y="5616993"/>
            <a:ext cx="31089" cy="31089"/>
          </a:xfrm>
          <a:prstGeom prst="ellipse">
            <a:avLst/>
          </a:prstGeom>
          <a:solidFill>
            <a:srgbClr val="CFE8FE">
              <a:alpha val="642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20210" y="2721572"/>
            <a:ext cx="16459" cy="16459"/>
          </a:xfrm>
          <a:prstGeom prst="ellipse">
            <a:avLst/>
          </a:prstGeom>
          <a:solidFill>
            <a:srgbClr val="CFE8FE">
              <a:alpha val="772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36638" y="5411391"/>
            <a:ext cx="16459" cy="16459"/>
          </a:xfrm>
          <a:prstGeom prst="ellipse">
            <a:avLst/>
          </a:prstGeom>
          <a:solidFill>
            <a:srgbClr val="CFE8FE">
              <a:alpha val="154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53082" y="4416221"/>
            <a:ext cx="31089" cy="31089"/>
          </a:xfrm>
          <a:prstGeom prst="ellipse">
            <a:avLst/>
          </a:prstGeom>
          <a:solidFill>
            <a:srgbClr val="CFE8FE">
              <a:alpha val="152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27423" y="2309822"/>
            <a:ext cx="31089" cy="31089"/>
          </a:xfrm>
          <a:prstGeom prst="ellipse">
            <a:avLst/>
          </a:prstGeom>
          <a:solidFill>
            <a:srgbClr val="CFE8FE">
              <a:alpha val="1622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1183" y="4162083"/>
            <a:ext cx="23774" cy="23774"/>
          </a:xfrm>
          <a:prstGeom prst="ellipse">
            <a:avLst/>
          </a:prstGeom>
          <a:solidFill>
            <a:srgbClr val="CFE8FE">
              <a:alpha val="1440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89056" y="2927156"/>
            <a:ext cx="23774" cy="23774"/>
          </a:xfrm>
          <a:prstGeom prst="ellipse">
            <a:avLst/>
          </a:prstGeom>
          <a:solidFill>
            <a:srgbClr val="CFE8FE">
              <a:alpha val="165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SYSTEM ARCHITECTURE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54480" y="1463040"/>
            <a:ext cx="9052560" cy="713232"/>
          </a:xfrm>
          <a:prstGeom prst="roundRect">
            <a:avLst>
              <a:gd name="adj" fmla="val 5000"/>
            </a:avLst>
          </a:prstGeom>
          <a:solidFill>
            <a:srgbClr val="0B1120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54480" y="1463040"/>
            <a:ext cx="82296" cy="713232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28800" y="155448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1 — PRESENTATION LAYER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182880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8E9DB8"/>
                </a:solidFill>
                <a:latin typeface="Segoe UI"/>
              </a:rPr>
              <a:t>Browser UI  •  HTML / CSS / JavaScript  •  dark interactive cards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6035040" y="2212848"/>
            <a:ext cx="256032" cy="219456"/>
          </a:xfrm>
          <a:prstGeom prst="downArrow">
            <a:avLst/>
          </a:prstGeom>
          <a:solidFill>
            <a:srgbClr val="22D3EE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54480" y="2487168"/>
            <a:ext cx="9052560" cy="713232"/>
          </a:xfrm>
          <a:prstGeom prst="roundRect">
            <a:avLst>
              <a:gd name="adj" fmla="val 5000"/>
            </a:avLst>
          </a:prstGeom>
          <a:solidFill>
            <a:srgbClr val="0B1120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554480" y="2487168"/>
            <a:ext cx="82296" cy="713232"/>
          </a:xfrm>
          <a:prstGeom prst="rect">
            <a:avLst/>
          </a:prstGeom>
          <a:solidFill>
            <a:srgbClr val="8B5CF6"/>
          </a:solidFill>
          <a:ln>
            <a:noFill/>
          </a:ln>
          <a:effectLst>
            <a:glow rad="60000">
              <a:srgbClr val="8B5CF6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0" y="2578608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2 — APPLICATION LAYER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28800" y="2852928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8E9DB8"/>
                </a:solidFill>
                <a:latin typeface="Segoe UI"/>
              </a:rPr>
              <a:t>Flask app  •  routes  •  JSON API  (/api/search, /api/catalog)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6035040" y="3236976"/>
            <a:ext cx="256032" cy="219456"/>
          </a:xfrm>
          <a:prstGeom prst="downArrow">
            <a:avLst/>
          </a:prstGeom>
          <a:solidFill>
            <a:srgbClr val="22D3EE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554480" y="3511296"/>
            <a:ext cx="9052560" cy="713232"/>
          </a:xfrm>
          <a:prstGeom prst="roundRect">
            <a:avLst>
              <a:gd name="adj" fmla="val 5000"/>
            </a:avLst>
          </a:prstGeom>
          <a:solidFill>
            <a:srgbClr val="0B1120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554480" y="3511296"/>
            <a:ext cx="82296" cy="713232"/>
          </a:xfrm>
          <a:prstGeom prst="rect">
            <a:avLst/>
          </a:prstGeom>
          <a:solidFill>
            <a:srgbClr val="34D399"/>
          </a:solidFill>
          <a:ln>
            <a:noFill/>
          </a:ln>
          <a:effectLst>
            <a:glow rad="60000">
              <a:srgbClr val="34D399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28800" y="3602736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3 — BUSINESS LOGIC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3877056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8E9DB8"/>
                </a:solidFill>
                <a:latin typeface="Segoe UI"/>
              </a:rPr>
              <a:t>search_products  •  enrich  •  BUY NOW / WAIT verdict  •  savings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6035040" y="4261104"/>
            <a:ext cx="256032" cy="219456"/>
          </a:xfrm>
          <a:prstGeom prst="downArrow">
            <a:avLst/>
          </a:prstGeom>
          <a:solidFill>
            <a:srgbClr val="22D3EE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554480" y="4535424"/>
            <a:ext cx="9052560" cy="713232"/>
          </a:xfrm>
          <a:prstGeom prst="roundRect">
            <a:avLst>
              <a:gd name="adj" fmla="val 5000"/>
            </a:avLst>
          </a:prstGeom>
          <a:solidFill>
            <a:srgbClr val="0B1120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54480" y="4535424"/>
            <a:ext cx="82296" cy="713232"/>
          </a:xfrm>
          <a:prstGeom prst="rect">
            <a:avLst/>
          </a:prstGeom>
          <a:solidFill>
            <a:srgbClr val="FBBF24"/>
          </a:solidFill>
          <a:ln>
            <a:noFill/>
          </a:ln>
          <a:effectLst>
            <a:glow rad="60000">
              <a:srgbClr val="FBBF24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0" y="4626864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4 — AI ENGINE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4901184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8E9DB8"/>
                </a:solidFill>
                <a:latin typeface="Segoe UI"/>
              </a:rPr>
              <a:t>Linear regression fit  •  2-week forecast  •  R² validation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6035040" y="5285232"/>
            <a:ext cx="256032" cy="219456"/>
          </a:xfrm>
          <a:prstGeom prst="downArrow">
            <a:avLst/>
          </a:prstGeom>
          <a:solidFill>
            <a:srgbClr val="22D3EE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554480" y="5559552"/>
            <a:ext cx="9052560" cy="713232"/>
          </a:xfrm>
          <a:prstGeom prst="roundRect">
            <a:avLst>
              <a:gd name="adj" fmla="val 5000"/>
            </a:avLst>
          </a:prstGeom>
          <a:solidFill>
            <a:srgbClr val="0B1120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554480" y="5559552"/>
            <a:ext cx="82296" cy="713232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glow rad="60000">
              <a:srgbClr val="F87171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28800" y="5650992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5 — DATA LAYER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28800" y="5925312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8E9DB8"/>
                </a:solidFill>
                <a:latin typeface="Segoe UI"/>
              </a:rPr>
              <a:t>Dataset  •  413 phones  •  1,200+ prices  •  seeded history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8E9DB8"/>
                </a:solidFill>
                <a:latin typeface="Segoe UI"/>
              </a:rPr>
              <a:t>Clear separation → easy to extend, test and redeploy automatically on Render.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gallery dir="l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08960" y="-3291840"/>
            <a:ext cx="6583680" cy="658368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3657600"/>
            <a:ext cx="5486400" cy="548640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18569" y="5763505"/>
            <a:ext cx="31089" cy="31089"/>
          </a:xfrm>
          <a:prstGeom prst="ellipse">
            <a:avLst/>
          </a:prstGeom>
          <a:solidFill>
            <a:srgbClr val="CFE8FE">
              <a:alpha val="1656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59611" y="226043"/>
            <a:ext cx="16459" cy="16459"/>
          </a:xfrm>
          <a:prstGeom prst="ellipse">
            <a:avLst/>
          </a:prstGeom>
          <a:solidFill>
            <a:srgbClr val="CFE8FE">
              <a:alpha val="171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8614" y="1249853"/>
            <a:ext cx="16459" cy="16459"/>
          </a:xfrm>
          <a:prstGeom prst="ellipse">
            <a:avLst/>
          </a:prstGeom>
          <a:solidFill>
            <a:srgbClr val="CFE8FE">
              <a:alpha val="677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53058" y="2293251"/>
            <a:ext cx="31089" cy="31089"/>
          </a:xfrm>
          <a:prstGeom prst="ellipse">
            <a:avLst/>
          </a:prstGeom>
          <a:solidFill>
            <a:srgbClr val="CFE8FE">
              <a:alpha val="591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59642" y="1827340"/>
            <a:ext cx="23774" cy="23774"/>
          </a:xfrm>
          <a:prstGeom prst="ellipse">
            <a:avLst/>
          </a:prstGeom>
          <a:solidFill>
            <a:srgbClr val="CFE8FE">
              <a:alpha val="192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90855" y="2097442"/>
            <a:ext cx="16459" cy="16459"/>
          </a:xfrm>
          <a:prstGeom prst="ellipse">
            <a:avLst/>
          </a:prstGeom>
          <a:solidFill>
            <a:srgbClr val="CFE8FE">
              <a:alpha val="1199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60253" y="1836490"/>
            <a:ext cx="16459" cy="16459"/>
          </a:xfrm>
          <a:prstGeom prst="ellipse">
            <a:avLst/>
          </a:prstGeom>
          <a:solidFill>
            <a:srgbClr val="CFE8FE">
              <a:alpha val="179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122" y="428195"/>
            <a:ext cx="16459" cy="16459"/>
          </a:xfrm>
          <a:prstGeom prst="ellipse">
            <a:avLst/>
          </a:prstGeom>
          <a:solidFill>
            <a:srgbClr val="CFE8FE">
              <a:alpha val="1742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35550" y="2837891"/>
            <a:ext cx="16459" cy="16459"/>
          </a:xfrm>
          <a:prstGeom prst="ellipse">
            <a:avLst/>
          </a:prstGeom>
          <a:solidFill>
            <a:srgbClr val="CFE8FE">
              <a:alpha val="1024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788386" y="1462804"/>
            <a:ext cx="16459" cy="16459"/>
          </a:xfrm>
          <a:prstGeom prst="ellipse">
            <a:avLst/>
          </a:prstGeom>
          <a:solidFill>
            <a:srgbClr val="CFE8FE">
              <a:alpha val="561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96421" y="5339026"/>
            <a:ext cx="31089" cy="31089"/>
          </a:xfrm>
          <a:prstGeom prst="ellipse">
            <a:avLst/>
          </a:prstGeom>
          <a:solidFill>
            <a:srgbClr val="CFE8FE">
              <a:alpha val="121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29385" y="1587568"/>
            <a:ext cx="16459" cy="16459"/>
          </a:xfrm>
          <a:prstGeom prst="ellipse">
            <a:avLst/>
          </a:prstGeom>
          <a:solidFill>
            <a:srgbClr val="CFE8FE">
              <a:alpha val="768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0517" y="438051"/>
            <a:ext cx="23774" cy="23774"/>
          </a:xfrm>
          <a:prstGeom prst="ellipse">
            <a:avLst/>
          </a:prstGeom>
          <a:solidFill>
            <a:srgbClr val="CFE8FE">
              <a:alpha val="54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92227" y="1540346"/>
            <a:ext cx="23774" cy="23774"/>
          </a:xfrm>
          <a:prstGeom prst="ellipse">
            <a:avLst/>
          </a:prstGeom>
          <a:solidFill>
            <a:srgbClr val="CFE8FE">
              <a:alpha val="62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85428" y="245577"/>
            <a:ext cx="31089" cy="31089"/>
          </a:xfrm>
          <a:prstGeom prst="ellipse">
            <a:avLst/>
          </a:prstGeom>
          <a:solidFill>
            <a:srgbClr val="CFE8FE">
              <a:alpha val="865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956" y="4157916"/>
            <a:ext cx="31089" cy="31089"/>
          </a:xfrm>
          <a:prstGeom prst="ellipse">
            <a:avLst/>
          </a:prstGeom>
          <a:solidFill>
            <a:srgbClr val="CFE8FE">
              <a:alpha val="1126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00227" y="3245112"/>
            <a:ext cx="16459" cy="16459"/>
          </a:xfrm>
          <a:prstGeom prst="ellipse">
            <a:avLst/>
          </a:prstGeom>
          <a:solidFill>
            <a:srgbClr val="CFE8FE">
              <a:alpha val="157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14295" y="5576358"/>
            <a:ext cx="31089" cy="31089"/>
          </a:xfrm>
          <a:prstGeom prst="ellipse">
            <a:avLst/>
          </a:prstGeom>
          <a:solidFill>
            <a:srgbClr val="CFE8FE">
              <a:alpha val="53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99481" y="4809984"/>
            <a:ext cx="23774" cy="23774"/>
          </a:xfrm>
          <a:prstGeom prst="ellipse">
            <a:avLst/>
          </a:prstGeom>
          <a:solidFill>
            <a:srgbClr val="CFE8FE">
              <a:alpha val="1278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96535" y="4879065"/>
            <a:ext cx="31089" cy="31089"/>
          </a:xfrm>
          <a:prstGeom prst="ellipse">
            <a:avLst/>
          </a:prstGeom>
          <a:solidFill>
            <a:srgbClr val="CFE8FE">
              <a:alpha val="167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54548" y="328794"/>
            <a:ext cx="23774" cy="23774"/>
          </a:xfrm>
          <a:prstGeom prst="ellipse">
            <a:avLst/>
          </a:prstGeom>
          <a:solidFill>
            <a:srgbClr val="CFE8FE">
              <a:alpha val="1820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44657" y="1416493"/>
            <a:ext cx="16459" cy="16459"/>
          </a:xfrm>
          <a:prstGeom prst="ellipse">
            <a:avLst/>
          </a:prstGeom>
          <a:solidFill>
            <a:srgbClr val="CFE8FE">
              <a:alpha val="138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99666" y="4101235"/>
            <a:ext cx="23774" cy="23774"/>
          </a:xfrm>
          <a:prstGeom prst="ellipse">
            <a:avLst/>
          </a:prstGeom>
          <a:solidFill>
            <a:srgbClr val="CFE8FE">
              <a:alpha val="65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35889" y="1254189"/>
            <a:ext cx="16459" cy="16459"/>
          </a:xfrm>
          <a:prstGeom prst="ellipse">
            <a:avLst/>
          </a:prstGeom>
          <a:solidFill>
            <a:srgbClr val="CFE8FE">
              <a:alpha val="176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15327" y="4596811"/>
            <a:ext cx="16459" cy="16459"/>
          </a:xfrm>
          <a:prstGeom prst="ellipse">
            <a:avLst/>
          </a:prstGeom>
          <a:solidFill>
            <a:srgbClr val="CFE8FE">
              <a:alpha val="1999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45867" y="3648308"/>
            <a:ext cx="16459" cy="16459"/>
          </a:xfrm>
          <a:prstGeom prst="ellipse">
            <a:avLst/>
          </a:prstGeom>
          <a:solidFill>
            <a:srgbClr val="CFE8FE">
              <a:alpha val="628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53048" y="1657694"/>
            <a:ext cx="16459" cy="16459"/>
          </a:xfrm>
          <a:prstGeom prst="ellipse">
            <a:avLst/>
          </a:prstGeom>
          <a:solidFill>
            <a:srgbClr val="CFE8FE">
              <a:alpha val="138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33751" y="4882651"/>
            <a:ext cx="31089" cy="31089"/>
          </a:xfrm>
          <a:prstGeom prst="ellipse">
            <a:avLst/>
          </a:prstGeom>
          <a:solidFill>
            <a:srgbClr val="CFE8FE">
              <a:alpha val="581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108020" y="1649356"/>
            <a:ext cx="31089" cy="31089"/>
          </a:xfrm>
          <a:prstGeom prst="ellipse">
            <a:avLst/>
          </a:prstGeom>
          <a:solidFill>
            <a:srgbClr val="CFE8FE">
              <a:alpha val="187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96979" y="4722039"/>
            <a:ext cx="16459" cy="16459"/>
          </a:xfrm>
          <a:prstGeom prst="ellipse">
            <a:avLst/>
          </a:prstGeom>
          <a:solidFill>
            <a:srgbClr val="CFE8FE">
              <a:alpha val="60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RESULTS &amp; INSIGHTS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554480"/>
            <a:ext cx="6949440" cy="43434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1783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LIVE RESULT — search “iPhone 16 Pro”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2331720"/>
            <a:ext cx="6400800" cy="804672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9525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0545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Flipkart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0" y="2505456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22D3EE"/>
                </a:solidFill>
                <a:latin typeface="Segoe UI"/>
              </a:rPr>
              <a:t>₹ 1,05,900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89320" y="2514600"/>
            <a:ext cx="1188720" cy="42062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0B1120"/>
                </a:solidFill>
                <a:latin typeface="Segoe UI"/>
              </a:rPr>
              <a:t>★ LOWEST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3319272"/>
            <a:ext cx="6400800" cy="804672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9525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349300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Amazon India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360" y="349300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22D3EE"/>
                </a:solidFill>
                <a:latin typeface="Segoe UI"/>
              </a:rPr>
              <a:t>₹ 1,12,900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" y="4306824"/>
            <a:ext cx="6400800" cy="804672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9525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4480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Apple Store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23360" y="44805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22D3EE"/>
                </a:solidFill>
                <a:latin typeface="Segoe UI"/>
              </a:rPr>
              <a:t>₹ 1,19,900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0" y="1554480"/>
            <a:ext cx="3749039" cy="434340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9050">
            <a:solidFill>
              <a:srgbClr val="22D3E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46720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AI VERDICTS IN ACTION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2331720"/>
            <a:ext cx="32004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📈 Rising trend →</a:t>
            </a:r>
            <a:r>
              <a:rPr sz="1250" b="0">
                <a:solidFill>
                  <a:srgbClr val="E9F1FB"/>
                </a:solidFill>
                <a:latin typeface="Segoe UI"/>
              </a:rPr>
              <a:t>  buy now before it gets costlier.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400" b="1">
                <a:solidFill>
                  <a:srgbClr val="FBBF24"/>
                </a:solidFill>
                <a:latin typeface="Segoe UI"/>
              </a:rPr>
              <a:t>📉 Falling trend →</a:t>
            </a:r>
            <a:r>
              <a:rPr sz="1250" b="0">
                <a:solidFill>
                  <a:srgbClr val="E9F1FB"/>
                </a:solidFill>
                <a:latin typeface="Segoe UI"/>
              </a:rPr>
              <a:t>  wait ~2 weeks, keep the shown saving.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➖ Stable trend →</a:t>
            </a:r>
            <a:r>
              <a:rPr sz="1250" b="0">
                <a:solidFill>
                  <a:srgbClr val="E9F1FB"/>
                </a:solidFill>
                <a:latin typeface="Segoe UI"/>
              </a:rPr>
              <a:t>  already a good time to buy.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8E9DB8"/>
                </a:solidFill>
                <a:latin typeface="Segoe UI"/>
              </a:rPr>
              <a:t>Every result carries a 2-week price forecast for each store, plus a savings figure when you wait.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flip dir="r" pres="obj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2194560"/>
            <a:ext cx="5486400" cy="548640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19" y="3200400"/>
            <a:ext cx="6217920" cy="621792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87839" y="3094776"/>
            <a:ext cx="16459" cy="16459"/>
          </a:xfrm>
          <a:prstGeom prst="ellipse">
            <a:avLst/>
          </a:prstGeom>
          <a:solidFill>
            <a:srgbClr val="CFE8FE">
              <a:alpha val="155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9962" y="2957719"/>
            <a:ext cx="16459" cy="16459"/>
          </a:xfrm>
          <a:prstGeom prst="ellipse">
            <a:avLst/>
          </a:prstGeom>
          <a:solidFill>
            <a:srgbClr val="CFE8FE">
              <a:alpha val="1299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24" y="3101298"/>
            <a:ext cx="16459" cy="16459"/>
          </a:xfrm>
          <a:prstGeom prst="ellipse">
            <a:avLst/>
          </a:prstGeom>
          <a:solidFill>
            <a:srgbClr val="CFE8FE">
              <a:alpha val="14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61430" y="1491750"/>
            <a:ext cx="16459" cy="16459"/>
          </a:xfrm>
          <a:prstGeom prst="ellipse">
            <a:avLst/>
          </a:prstGeom>
          <a:solidFill>
            <a:srgbClr val="CFE8FE">
              <a:alpha val="96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72010" y="1487808"/>
            <a:ext cx="16459" cy="16459"/>
          </a:xfrm>
          <a:prstGeom prst="ellipse">
            <a:avLst/>
          </a:prstGeom>
          <a:solidFill>
            <a:srgbClr val="CFE8FE">
              <a:alpha val="711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33134" y="2551573"/>
            <a:ext cx="23774" cy="23774"/>
          </a:xfrm>
          <a:prstGeom prst="ellipse">
            <a:avLst/>
          </a:prstGeom>
          <a:solidFill>
            <a:srgbClr val="CFE8FE">
              <a:alpha val="1944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50548" y="6302689"/>
            <a:ext cx="31089" cy="31089"/>
          </a:xfrm>
          <a:prstGeom prst="ellipse">
            <a:avLst/>
          </a:prstGeom>
          <a:solidFill>
            <a:srgbClr val="CFE8FE">
              <a:alpha val="91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56518" y="2583813"/>
            <a:ext cx="31089" cy="31089"/>
          </a:xfrm>
          <a:prstGeom prst="ellipse">
            <a:avLst/>
          </a:prstGeom>
          <a:solidFill>
            <a:srgbClr val="CFE8FE">
              <a:alpha val="145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97235" y="4041040"/>
            <a:ext cx="16459" cy="16459"/>
          </a:xfrm>
          <a:prstGeom prst="ellipse">
            <a:avLst/>
          </a:prstGeom>
          <a:solidFill>
            <a:srgbClr val="CFE8FE">
              <a:alpha val="166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9370" y="1415934"/>
            <a:ext cx="16459" cy="16459"/>
          </a:xfrm>
          <a:prstGeom prst="ellipse">
            <a:avLst/>
          </a:prstGeom>
          <a:solidFill>
            <a:srgbClr val="CFE8FE">
              <a:alpha val="1870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59438" y="3051670"/>
            <a:ext cx="31089" cy="31089"/>
          </a:xfrm>
          <a:prstGeom prst="ellipse">
            <a:avLst/>
          </a:prstGeom>
          <a:solidFill>
            <a:srgbClr val="CFE8FE">
              <a:alpha val="1883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20184" y="4176162"/>
            <a:ext cx="16459" cy="16459"/>
          </a:xfrm>
          <a:prstGeom prst="ellipse">
            <a:avLst/>
          </a:prstGeom>
          <a:solidFill>
            <a:srgbClr val="CFE8FE">
              <a:alpha val="141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78436" y="5143215"/>
            <a:ext cx="31089" cy="31089"/>
          </a:xfrm>
          <a:prstGeom prst="ellipse">
            <a:avLst/>
          </a:prstGeom>
          <a:solidFill>
            <a:srgbClr val="CFE8FE">
              <a:alpha val="1570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6060" y="2350928"/>
            <a:ext cx="31089" cy="31089"/>
          </a:xfrm>
          <a:prstGeom prst="ellipse">
            <a:avLst/>
          </a:prstGeom>
          <a:solidFill>
            <a:srgbClr val="CFE8FE">
              <a:alpha val="1014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80378" y="2506363"/>
            <a:ext cx="23774" cy="23774"/>
          </a:xfrm>
          <a:prstGeom prst="ellipse">
            <a:avLst/>
          </a:prstGeom>
          <a:solidFill>
            <a:srgbClr val="CFE8FE">
              <a:alpha val="110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7883" y="831425"/>
            <a:ext cx="23774" cy="23774"/>
          </a:xfrm>
          <a:prstGeom prst="ellipse">
            <a:avLst/>
          </a:prstGeom>
          <a:solidFill>
            <a:srgbClr val="CFE8FE">
              <a:alpha val="1477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38606" y="5606741"/>
            <a:ext cx="31089" cy="31089"/>
          </a:xfrm>
          <a:prstGeom prst="ellipse">
            <a:avLst/>
          </a:prstGeom>
          <a:solidFill>
            <a:srgbClr val="CFE8FE">
              <a:alpha val="1572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59600" y="3470196"/>
            <a:ext cx="23774" cy="23774"/>
          </a:xfrm>
          <a:prstGeom prst="ellipse">
            <a:avLst/>
          </a:prstGeom>
          <a:solidFill>
            <a:srgbClr val="CFE8FE">
              <a:alpha val="1852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58239" y="555529"/>
            <a:ext cx="31089" cy="31089"/>
          </a:xfrm>
          <a:prstGeom prst="ellipse">
            <a:avLst/>
          </a:prstGeom>
          <a:solidFill>
            <a:srgbClr val="CFE8FE">
              <a:alpha val="179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10635" y="5008296"/>
            <a:ext cx="31089" cy="31089"/>
          </a:xfrm>
          <a:prstGeom prst="ellipse">
            <a:avLst/>
          </a:prstGeom>
          <a:solidFill>
            <a:srgbClr val="CFE8FE">
              <a:alpha val="1543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84284" y="5188783"/>
            <a:ext cx="16459" cy="16459"/>
          </a:xfrm>
          <a:prstGeom prst="ellipse">
            <a:avLst/>
          </a:prstGeom>
          <a:solidFill>
            <a:srgbClr val="CFE8FE">
              <a:alpha val="182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21990" y="1568403"/>
            <a:ext cx="31089" cy="31089"/>
          </a:xfrm>
          <a:prstGeom prst="ellipse">
            <a:avLst/>
          </a:prstGeom>
          <a:solidFill>
            <a:srgbClr val="CFE8FE">
              <a:alpha val="159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63947" y="3099658"/>
            <a:ext cx="31089" cy="31089"/>
          </a:xfrm>
          <a:prstGeom prst="ellipse">
            <a:avLst/>
          </a:prstGeom>
          <a:solidFill>
            <a:srgbClr val="CFE8FE">
              <a:alpha val="67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39804" y="3545112"/>
            <a:ext cx="31089" cy="31089"/>
          </a:xfrm>
          <a:prstGeom prst="ellipse">
            <a:avLst/>
          </a:prstGeom>
          <a:solidFill>
            <a:srgbClr val="CFE8FE">
              <a:alpha val="139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7200" y="4822538"/>
            <a:ext cx="16459" cy="16459"/>
          </a:xfrm>
          <a:prstGeom prst="ellipse">
            <a:avLst/>
          </a:prstGeom>
          <a:solidFill>
            <a:srgbClr val="CFE8FE">
              <a:alpha val="1100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30506" y="4141674"/>
            <a:ext cx="31089" cy="31089"/>
          </a:xfrm>
          <a:prstGeom prst="ellipse">
            <a:avLst/>
          </a:prstGeom>
          <a:solidFill>
            <a:srgbClr val="CFE8FE">
              <a:alpha val="1465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23463" y="431697"/>
            <a:ext cx="23774" cy="23774"/>
          </a:xfrm>
          <a:prstGeom prst="ellipse">
            <a:avLst/>
          </a:prstGeom>
          <a:solidFill>
            <a:srgbClr val="CFE8FE">
              <a:alpha val="741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31750" y="5769985"/>
            <a:ext cx="16459" cy="16459"/>
          </a:xfrm>
          <a:prstGeom prst="ellipse">
            <a:avLst/>
          </a:prstGeom>
          <a:solidFill>
            <a:srgbClr val="CFE8FE">
              <a:alpha val="199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15198" y="1190806"/>
            <a:ext cx="16459" cy="16459"/>
          </a:xfrm>
          <a:prstGeom prst="ellipse">
            <a:avLst/>
          </a:prstGeom>
          <a:solidFill>
            <a:srgbClr val="CFE8FE">
              <a:alpha val="70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90438" y="970242"/>
            <a:ext cx="16459" cy="16459"/>
          </a:xfrm>
          <a:prstGeom prst="ellipse">
            <a:avLst/>
          </a:prstGeom>
          <a:solidFill>
            <a:srgbClr val="CFE8FE">
              <a:alpha val="1531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FUTURE SCOPE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11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1554480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1682495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→  Live price scraping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0640" y="1709928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Refresh all prices automatically every few hours instead of researched snapshots.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2487168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2615184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→  More categories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2642615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Laptops, TVs, smartwatches, accessories, appliances.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3419856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3547872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→  Price-drop alerts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3575303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Email / notification when a watched product hits its target price.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4352544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480559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→  Real-history charts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20640" y="4507992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Train on true daily histories collected over time.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285231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1E2E4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400" y="5413247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→  Android app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0" y="5440679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E9F1FB"/>
                </a:solidFill>
                <a:latin typeface="Segoe UI"/>
              </a:rPr>
              <a:t>Native app + browser extension for one-tap comparisons.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50">
        <p14:orbit dir="l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920240" y="-1371600"/>
            <a:ext cx="4754880" cy="475488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017520"/>
            <a:ext cx="5486400" cy="548640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84870" y="1429464"/>
            <a:ext cx="31089" cy="31089"/>
          </a:xfrm>
          <a:prstGeom prst="ellipse">
            <a:avLst/>
          </a:prstGeom>
          <a:solidFill>
            <a:srgbClr val="CFE8FE">
              <a:alpha val="188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50420" y="4429622"/>
            <a:ext cx="16459" cy="16459"/>
          </a:xfrm>
          <a:prstGeom prst="ellipse">
            <a:avLst/>
          </a:prstGeom>
          <a:solidFill>
            <a:srgbClr val="CFE8FE">
              <a:alpha val="1403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21981" y="3290235"/>
            <a:ext cx="16459" cy="16459"/>
          </a:xfrm>
          <a:prstGeom prst="ellipse">
            <a:avLst/>
          </a:prstGeom>
          <a:solidFill>
            <a:srgbClr val="CFE8FE">
              <a:alpha val="99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09161" y="1816632"/>
            <a:ext cx="16459" cy="16459"/>
          </a:xfrm>
          <a:prstGeom prst="ellipse">
            <a:avLst/>
          </a:prstGeom>
          <a:solidFill>
            <a:srgbClr val="CFE8FE">
              <a:alpha val="63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93941" y="2528869"/>
            <a:ext cx="23774" cy="23774"/>
          </a:xfrm>
          <a:prstGeom prst="ellipse">
            <a:avLst/>
          </a:prstGeom>
          <a:solidFill>
            <a:srgbClr val="CFE8FE">
              <a:alpha val="167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78109" y="5247160"/>
            <a:ext cx="23774" cy="23774"/>
          </a:xfrm>
          <a:prstGeom prst="ellipse">
            <a:avLst/>
          </a:prstGeom>
          <a:solidFill>
            <a:srgbClr val="CFE8FE">
              <a:alpha val="81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7540" y="2130578"/>
            <a:ext cx="16459" cy="16459"/>
          </a:xfrm>
          <a:prstGeom prst="ellipse">
            <a:avLst/>
          </a:prstGeom>
          <a:solidFill>
            <a:srgbClr val="CFE8FE">
              <a:alpha val="14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97072" y="2285744"/>
            <a:ext cx="23774" cy="23774"/>
          </a:xfrm>
          <a:prstGeom prst="ellipse">
            <a:avLst/>
          </a:prstGeom>
          <a:solidFill>
            <a:srgbClr val="CFE8FE">
              <a:alpha val="1091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2074" y="2890207"/>
            <a:ext cx="23774" cy="23774"/>
          </a:xfrm>
          <a:prstGeom prst="ellipse">
            <a:avLst/>
          </a:prstGeom>
          <a:solidFill>
            <a:srgbClr val="CFE8FE">
              <a:alpha val="161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80383" y="5763281"/>
            <a:ext cx="16459" cy="16459"/>
          </a:xfrm>
          <a:prstGeom prst="ellipse">
            <a:avLst/>
          </a:prstGeom>
          <a:solidFill>
            <a:srgbClr val="CFE8FE">
              <a:alpha val="130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26888" y="322840"/>
            <a:ext cx="31089" cy="31089"/>
          </a:xfrm>
          <a:prstGeom prst="ellipse">
            <a:avLst/>
          </a:prstGeom>
          <a:solidFill>
            <a:srgbClr val="CFE8FE">
              <a:alpha val="103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50176" y="5427570"/>
            <a:ext cx="16459" cy="16459"/>
          </a:xfrm>
          <a:prstGeom prst="ellipse">
            <a:avLst/>
          </a:prstGeom>
          <a:solidFill>
            <a:srgbClr val="CFE8FE">
              <a:alpha val="114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33682" y="5070576"/>
            <a:ext cx="23774" cy="23774"/>
          </a:xfrm>
          <a:prstGeom prst="ellipse">
            <a:avLst/>
          </a:prstGeom>
          <a:solidFill>
            <a:srgbClr val="CFE8FE">
              <a:alpha val="152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06859" y="2504990"/>
            <a:ext cx="31089" cy="31089"/>
          </a:xfrm>
          <a:prstGeom prst="ellipse">
            <a:avLst/>
          </a:prstGeom>
          <a:solidFill>
            <a:srgbClr val="CFE8FE">
              <a:alpha val="135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29666" y="5584227"/>
            <a:ext cx="31089" cy="31089"/>
          </a:xfrm>
          <a:prstGeom prst="ellipse">
            <a:avLst/>
          </a:prstGeom>
          <a:solidFill>
            <a:srgbClr val="CFE8FE">
              <a:alpha val="966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65527" y="4606346"/>
            <a:ext cx="31089" cy="31089"/>
          </a:xfrm>
          <a:prstGeom prst="ellipse">
            <a:avLst/>
          </a:prstGeom>
          <a:solidFill>
            <a:srgbClr val="CFE8FE">
              <a:alpha val="1809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45075" y="605003"/>
            <a:ext cx="31089" cy="31089"/>
          </a:xfrm>
          <a:prstGeom prst="ellipse">
            <a:avLst/>
          </a:prstGeom>
          <a:solidFill>
            <a:srgbClr val="CFE8FE">
              <a:alpha val="1018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56318" y="5788105"/>
            <a:ext cx="16459" cy="16459"/>
          </a:xfrm>
          <a:prstGeom prst="ellipse">
            <a:avLst/>
          </a:prstGeom>
          <a:solidFill>
            <a:srgbClr val="CFE8FE">
              <a:alpha val="151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21009" y="4058194"/>
            <a:ext cx="23774" cy="23774"/>
          </a:xfrm>
          <a:prstGeom prst="ellipse">
            <a:avLst/>
          </a:prstGeom>
          <a:solidFill>
            <a:srgbClr val="CFE8FE">
              <a:alpha val="1688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25181" y="1327550"/>
            <a:ext cx="16459" cy="16459"/>
          </a:xfrm>
          <a:prstGeom prst="ellipse">
            <a:avLst/>
          </a:prstGeom>
          <a:solidFill>
            <a:srgbClr val="CFE8FE">
              <a:alpha val="160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28393" y="3040685"/>
            <a:ext cx="16459" cy="16459"/>
          </a:xfrm>
          <a:prstGeom prst="ellipse">
            <a:avLst/>
          </a:prstGeom>
          <a:solidFill>
            <a:srgbClr val="CFE8FE">
              <a:alpha val="621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38361" y="2179522"/>
            <a:ext cx="23774" cy="23774"/>
          </a:xfrm>
          <a:prstGeom prst="ellipse">
            <a:avLst/>
          </a:prstGeom>
          <a:solidFill>
            <a:srgbClr val="CFE8FE">
              <a:alpha val="601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3130" y="4594346"/>
            <a:ext cx="23774" cy="23774"/>
          </a:xfrm>
          <a:prstGeom prst="ellipse">
            <a:avLst/>
          </a:prstGeom>
          <a:solidFill>
            <a:srgbClr val="CFE8FE">
              <a:alpha val="119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36139" y="4529435"/>
            <a:ext cx="23774" cy="23774"/>
          </a:xfrm>
          <a:prstGeom prst="ellipse">
            <a:avLst/>
          </a:prstGeom>
          <a:solidFill>
            <a:srgbClr val="CFE8FE">
              <a:alpha val="635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152864" y="1783196"/>
            <a:ext cx="16459" cy="16459"/>
          </a:xfrm>
          <a:prstGeom prst="ellipse">
            <a:avLst/>
          </a:prstGeom>
          <a:solidFill>
            <a:srgbClr val="CFE8FE">
              <a:alpha val="113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0508" y="5305180"/>
            <a:ext cx="23774" cy="23774"/>
          </a:xfrm>
          <a:prstGeom prst="ellipse">
            <a:avLst/>
          </a:prstGeom>
          <a:solidFill>
            <a:srgbClr val="CFE8FE">
              <a:alpha val="866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67054" y="6437861"/>
            <a:ext cx="16459" cy="16459"/>
          </a:xfrm>
          <a:prstGeom prst="ellipse">
            <a:avLst/>
          </a:prstGeom>
          <a:solidFill>
            <a:srgbClr val="CFE8FE">
              <a:alpha val="518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92249" y="5666559"/>
            <a:ext cx="23774" cy="23774"/>
          </a:xfrm>
          <a:prstGeom prst="ellipse">
            <a:avLst/>
          </a:prstGeom>
          <a:solidFill>
            <a:srgbClr val="CFE8FE">
              <a:alpha val="1483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3231" y="2336594"/>
            <a:ext cx="23774" cy="23774"/>
          </a:xfrm>
          <a:prstGeom prst="ellipse">
            <a:avLst/>
          </a:prstGeom>
          <a:solidFill>
            <a:srgbClr val="CFE8FE">
              <a:alpha val="1206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4269" y="3979333"/>
            <a:ext cx="23774" cy="23774"/>
          </a:xfrm>
          <a:prstGeom prst="ellipse">
            <a:avLst/>
          </a:prstGeom>
          <a:solidFill>
            <a:srgbClr val="CFE8FE">
              <a:alpha val="1001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520000">
            <a:off x="-1097280" y="137160"/>
            <a:ext cx="13716000" cy="82296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74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  BTECH CSE  •  DATA SCIENCE  •  5TH SEMESTER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gradFill rotWithShape="1">
                  <a:gsLst>
                    <a:gs pos="0">
                      <a:srgbClr val="E9F1FB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CONCLUSION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" y="1280160"/>
            <a:ext cx="64008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12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1645920"/>
            <a:ext cx="10332720" cy="406908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9050">
            <a:solidFill>
              <a:srgbClr val="22D3EE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80160" y="196596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WHAT THIS PROJECT DEMONSTRATES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2560320"/>
            <a:ext cx="9601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  </a:t>
            </a:r>
            <a:r>
              <a:rPr sz="1400" b="0">
                <a:solidFill>
                  <a:srgbClr val="E9F1FB"/>
                </a:solidFill>
                <a:latin typeface="Segoe UI"/>
              </a:rPr>
              <a:t>A complete, end-to-end AI product built in pure Python — from data collection to deployed web app.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  </a:t>
            </a:r>
            <a:r>
              <a:rPr sz="1400" b="0">
                <a:solidFill>
                  <a:srgbClr val="E9F1FB"/>
                </a:solidFill>
                <a:latin typeface="Segoe UI"/>
              </a:rPr>
              <a:t>Applied data-science skills: data research, cleaning, modelling, forecasting and R² evaluation.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  </a:t>
            </a:r>
            <a:r>
              <a:rPr sz="1400" b="0">
                <a:solidFill>
                  <a:srgbClr val="E9F1FB"/>
                </a:solidFill>
                <a:latin typeface="Segoe UI"/>
              </a:rPr>
              <a:t>The from-scratch linear-regression engine shows the real maths behind ML — no black-box libraries.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  </a:t>
            </a:r>
            <a:r>
              <a:rPr sz="1400" b="0">
                <a:solidFill>
                  <a:srgbClr val="E9F1FB"/>
                </a:solidFill>
                <a:latin typeface="Segoe UI"/>
              </a:rPr>
              <a:t>It answers a practical question: where to buy a phone, and when — for the best price.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  </a:t>
            </a:r>
            <a:r>
              <a:rPr sz="1400" b="0">
                <a:solidFill>
                  <a:srgbClr val="E9F1FB"/>
                </a:solidFill>
                <a:latin typeface="Segoe UI"/>
              </a:rPr>
              <a:t>Runs on a free stack (GitHub + Render) and auto-deploys on every commit.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800">
        <p14:doors dir="r" orient="h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D1530"/>
              </a:gs>
              <a:gs pos="50000">
                <a:srgbClr val="0A1222"/>
              </a:gs>
              <a:gs pos="100000">
                <a:srgbClr val="04060C"/>
              </a:gs>
            </a:gsLst>
            <a:lin ang="5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834640" y="-2194560"/>
            <a:ext cx="6583680" cy="6583680"/>
          </a:xfrm>
          <a:prstGeom prst="ellipse">
            <a:avLst/>
          </a:prstGeom>
          <a:gradFill>
            <a:gsLst>
              <a:gs pos="0">
                <a:srgbClr val="22D3EE">
                  <a:alpha val="26000"/>
                </a:srgbClr>
              </a:gs>
              <a:gs pos="60000">
                <a:srgbClr val="22D3EE">
                  <a:alpha val="7000"/>
                </a:srgbClr>
              </a:gs>
              <a:gs pos="100000">
                <a:srgbClr val="22D3EE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0" y="2651760"/>
            <a:ext cx="6217920" cy="6217920"/>
          </a:xfrm>
          <a:prstGeom prst="ellipse">
            <a:avLst/>
          </a:prstGeom>
          <a:gradFill>
            <a:gsLst>
              <a:gs pos="0">
                <a:srgbClr val="8B5CF6">
                  <a:alpha val="26000"/>
                </a:srgbClr>
              </a:gs>
              <a:gs pos="60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48" t="30" r="52" b="7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07798" y="6254715"/>
            <a:ext cx="16459" cy="16459"/>
          </a:xfrm>
          <a:prstGeom prst="ellipse">
            <a:avLst/>
          </a:prstGeom>
          <a:solidFill>
            <a:srgbClr val="CFE8FE">
              <a:alpha val="525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73108" y="2609967"/>
            <a:ext cx="23774" cy="23774"/>
          </a:xfrm>
          <a:prstGeom prst="ellipse">
            <a:avLst/>
          </a:prstGeom>
          <a:solidFill>
            <a:srgbClr val="CFE8FE">
              <a:alpha val="69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30076" y="3028506"/>
            <a:ext cx="16459" cy="16459"/>
          </a:xfrm>
          <a:prstGeom prst="ellipse">
            <a:avLst/>
          </a:prstGeom>
          <a:solidFill>
            <a:srgbClr val="CFE8FE">
              <a:alpha val="1430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36173" y="860723"/>
            <a:ext cx="31089" cy="31089"/>
          </a:xfrm>
          <a:prstGeom prst="ellipse">
            <a:avLst/>
          </a:prstGeom>
          <a:solidFill>
            <a:srgbClr val="CFE8FE">
              <a:alpha val="124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2045" y="4200443"/>
            <a:ext cx="23774" cy="23774"/>
          </a:xfrm>
          <a:prstGeom prst="ellipse">
            <a:avLst/>
          </a:prstGeom>
          <a:solidFill>
            <a:srgbClr val="CFE8FE">
              <a:alpha val="103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6516" y="5195361"/>
            <a:ext cx="31089" cy="31089"/>
          </a:xfrm>
          <a:prstGeom prst="ellipse">
            <a:avLst/>
          </a:prstGeom>
          <a:solidFill>
            <a:srgbClr val="CFE8FE">
              <a:alpha val="105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95210" y="1565742"/>
            <a:ext cx="31089" cy="31089"/>
          </a:xfrm>
          <a:prstGeom prst="ellipse">
            <a:avLst/>
          </a:prstGeom>
          <a:solidFill>
            <a:srgbClr val="CFE8FE">
              <a:alpha val="104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75665" y="2542751"/>
            <a:ext cx="31089" cy="31089"/>
          </a:xfrm>
          <a:prstGeom prst="ellipse">
            <a:avLst/>
          </a:prstGeom>
          <a:solidFill>
            <a:srgbClr val="CFE8FE">
              <a:alpha val="921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90208" y="3850446"/>
            <a:ext cx="23774" cy="23774"/>
          </a:xfrm>
          <a:prstGeom prst="ellipse">
            <a:avLst/>
          </a:prstGeom>
          <a:solidFill>
            <a:srgbClr val="CFE8FE">
              <a:alpha val="76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37051" y="5249053"/>
            <a:ext cx="31089" cy="31089"/>
          </a:xfrm>
          <a:prstGeom prst="ellipse">
            <a:avLst/>
          </a:prstGeom>
          <a:solidFill>
            <a:srgbClr val="CFE8FE">
              <a:alpha val="146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13408" y="1325678"/>
            <a:ext cx="23774" cy="23774"/>
          </a:xfrm>
          <a:prstGeom prst="ellipse">
            <a:avLst/>
          </a:prstGeom>
          <a:solidFill>
            <a:srgbClr val="CFE8FE">
              <a:alpha val="151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9916" y="3910052"/>
            <a:ext cx="16459" cy="16459"/>
          </a:xfrm>
          <a:prstGeom prst="ellipse">
            <a:avLst/>
          </a:prstGeom>
          <a:solidFill>
            <a:srgbClr val="CFE8FE">
              <a:alpha val="647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566" y="1946713"/>
            <a:ext cx="31089" cy="31089"/>
          </a:xfrm>
          <a:prstGeom prst="ellipse">
            <a:avLst/>
          </a:prstGeom>
          <a:solidFill>
            <a:srgbClr val="CFE8FE">
              <a:alpha val="920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87999" y="880861"/>
            <a:ext cx="23774" cy="23774"/>
          </a:xfrm>
          <a:prstGeom prst="ellipse">
            <a:avLst/>
          </a:prstGeom>
          <a:solidFill>
            <a:srgbClr val="CFE8FE">
              <a:alpha val="1313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52854" y="3093504"/>
            <a:ext cx="16459" cy="16459"/>
          </a:xfrm>
          <a:prstGeom prst="ellipse">
            <a:avLst/>
          </a:prstGeom>
          <a:solidFill>
            <a:srgbClr val="CFE8FE">
              <a:alpha val="88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36731" y="5199885"/>
            <a:ext cx="31089" cy="31089"/>
          </a:xfrm>
          <a:prstGeom prst="ellipse">
            <a:avLst/>
          </a:prstGeom>
          <a:solidFill>
            <a:srgbClr val="CFE8FE">
              <a:alpha val="1692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53276" y="2284020"/>
            <a:ext cx="16459" cy="16459"/>
          </a:xfrm>
          <a:prstGeom prst="ellipse">
            <a:avLst/>
          </a:prstGeom>
          <a:solidFill>
            <a:srgbClr val="CFE8FE">
              <a:alpha val="1878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19980" y="6234621"/>
            <a:ext cx="16459" cy="16459"/>
          </a:xfrm>
          <a:prstGeom prst="ellipse">
            <a:avLst/>
          </a:prstGeom>
          <a:solidFill>
            <a:srgbClr val="CFE8FE">
              <a:alpha val="1173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8242" y="4220831"/>
            <a:ext cx="23774" cy="23774"/>
          </a:xfrm>
          <a:prstGeom prst="ellipse">
            <a:avLst/>
          </a:prstGeom>
          <a:solidFill>
            <a:srgbClr val="CFE8FE">
              <a:alpha val="53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58267" y="4581544"/>
            <a:ext cx="16459" cy="16459"/>
          </a:xfrm>
          <a:prstGeom prst="ellipse">
            <a:avLst/>
          </a:prstGeom>
          <a:solidFill>
            <a:srgbClr val="CFE8FE">
              <a:alpha val="170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88267" y="3630326"/>
            <a:ext cx="23774" cy="23774"/>
          </a:xfrm>
          <a:prstGeom prst="ellipse">
            <a:avLst/>
          </a:prstGeom>
          <a:solidFill>
            <a:srgbClr val="CFE8FE">
              <a:alpha val="16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34243" y="6419762"/>
            <a:ext cx="23774" cy="23774"/>
          </a:xfrm>
          <a:prstGeom prst="ellipse">
            <a:avLst/>
          </a:prstGeom>
          <a:solidFill>
            <a:srgbClr val="CFE8FE">
              <a:alpha val="123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5863" y="1874719"/>
            <a:ext cx="31089" cy="31089"/>
          </a:xfrm>
          <a:prstGeom prst="ellipse">
            <a:avLst/>
          </a:prstGeom>
          <a:solidFill>
            <a:srgbClr val="CFE8FE">
              <a:alpha val="794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109777" y="6266543"/>
            <a:ext cx="16459" cy="16459"/>
          </a:xfrm>
          <a:prstGeom prst="ellipse">
            <a:avLst/>
          </a:prstGeom>
          <a:solidFill>
            <a:srgbClr val="CFE8FE">
              <a:alpha val="63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94461" y="4340219"/>
            <a:ext cx="31089" cy="31089"/>
          </a:xfrm>
          <a:prstGeom prst="ellipse">
            <a:avLst/>
          </a:prstGeom>
          <a:solidFill>
            <a:srgbClr val="CFE8FE">
              <a:alpha val="131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6651" y="1802681"/>
            <a:ext cx="23774" cy="23774"/>
          </a:xfrm>
          <a:prstGeom prst="ellipse">
            <a:avLst/>
          </a:prstGeom>
          <a:solidFill>
            <a:srgbClr val="CFE8FE">
              <a:alpha val="747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0745" y="5059802"/>
            <a:ext cx="31089" cy="31089"/>
          </a:xfrm>
          <a:prstGeom prst="ellipse">
            <a:avLst/>
          </a:prstGeom>
          <a:solidFill>
            <a:srgbClr val="CFE8FE">
              <a:alpha val="183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07339" y="5912758"/>
            <a:ext cx="31089" cy="31089"/>
          </a:xfrm>
          <a:prstGeom prst="ellipse">
            <a:avLst/>
          </a:prstGeom>
          <a:solidFill>
            <a:srgbClr val="CFE8FE">
              <a:alpha val="171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7209" y="6331574"/>
            <a:ext cx="31089" cy="31089"/>
          </a:xfrm>
          <a:prstGeom prst="ellipse">
            <a:avLst/>
          </a:prstGeom>
          <a:solidFill>
            <a:srgbClr val="CFE8FE">
              <a:alpha val="1618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71078" y="2903913"/>
            <a:ext cx="23774" cy="23774"/>
          </a:xfrm>
          <a:prstGeom prst="ellipse">
            <a:avLst/>
          </a:prstGeom>
          <a:solidFill>
            <a:srgbClr val="CFE8FE">
              <a:alpha val="1657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0640000">
            <a:off x="-1828800" y="91440"/>
            <a:ext cx="15544800" cy="128016"/>
          </a:xfrm>
          <a:prstGeom prst="rect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200000">
            <a:off x="7772400" y="-1371600"/>
            <a:ext cx="457200" cy="10972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40480" y="2011680"/>
            <a:ext cx="4572000" cy="4572000"/>
          </a:xfrm>
          <a:prstGeom prst="ellipse">
            <a:avLst/>
          </a:prstGeom>
          <a:noFill/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1371600"/>
            <a:ext cx="1051560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800" b="1">
                <a:gradFill rotWithShape="1">
                  <a:gsLst>
                    <a:gs pos="0">
                      <a:srgbClr val="FFFFFF"/>
                    </a:gs>
                    <a:gs pos="100000">
                      <a:srgbClr val="22D3EE"/>
                    </a:gs>
                  </a:gsLst>
                  <a:lin scaled="0" ang="16200000"/>
                </a:gradFill>
                <a:latin typeface="Segoe UI"/>
              </a:rPr>
              <a:t>THANK YOU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22D3EE"/>
                </a:solidFill>
                <a:latin typeface="Segoe UI"/>
              </a:rPr>
              <a:t>SmartPrice.AI — AI-Powered Price Comparison &amp; Smart Buying Engine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0" y="3657600"/>
            <a:ext cx="1554480" cy="41148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glow rad="60000">
              <a:srgbClr val="22D3EE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108960" y="4114800"/>
            <a:ext cx="5943600" cy="1234440"/>
          </a:xfrm>
          <a:prstGeom prst="roundRect">
            <a:avLst>
              <a:gd name="adj" fmla="val 5000"/>
            </a:avLst>
          </a:prstGeom>
          <a:solidFill>
            <a:srgbClr val="121D36"/>
          </a:solidFill>
          <a:ln w="12700">
            <a:solidFill>
              <a:srgbClr val="2A3A5C"/>
            </a:solidFill>
          </a:ln>
          <a:effectLst>
            <a:outerShdw blurRad="130000" dist="45000" dir="5400000" rotWithShape="0">
              <a:srgbClr val="000000">
                <a:alpha val="55000"/>
              </a:srgbClr>
            </a:outerShdw>
            <a:glow rad="60000">
              <a:srgbClr val="8B5CF6">
                <a:alpha val="1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83280" y="427939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8B5CF6"/>
                </a:solidFill>
                <a:latin typeface="Segoe UI"/>
              </a:rPr>
              <a:t>PROJECT  MADE  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455371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VEER SINGH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5029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8E9DB8"/>
                </a:solidFill>
                <a:latin typeface="Segoe UI"/>
              </a:rPr>
              <a:t>B.Tech CSE — Data Science  •  5th Semester  •  Roll No. 2449476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806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E9DB8"/>
                </a:solidFill>
                <a:latin typeface="Segoe UI"/>
              </a:rPr>
              <a:t>Questions &amp; suggestions are warmly welcome.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38544"/>
            <a:ext cx="12191695" cy="18288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638251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8E9DB8"/>
                </a:solidFill>
                <a:latin typeface="Segoe UI"/>
              </a:rPr>
              <a:t>SMARTPRICE.AI  •  VEER SINGH  •  ROLL 2449476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3825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900">
        <p14:fractur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SmartPrice.AI — Project Presentation</dc:title>
  <dc:subject>AI-Powered Price Comparison &amp; Smart Buying Engine</dc:subject>
  <dc:creator>Veer Singh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